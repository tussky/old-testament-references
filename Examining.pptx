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Times New Roman" charset="1" panose="02020603050405020304"/>
      <p:regular r:id="rId30"/>
    </p:embeddedFont>
    <p:embeddedFont>
      <p:font typeface="Times New Roman Bold" charset="1" panose="02020803070505020304"/>
      <p:regular r:id="rId31"/>
    </p:embeddedFont>
    <p:embeddedFont>
      <p:font typeface="Fira Code" charset="1" panose="020B0809050000020004"/>
      <p:regular r:id="rId32"/>
    </p:embeddedFont>
    <p:embeddedFont>
      <p:font typeface="Open Sans" charset="1" panose="00000000000000000000"/>
      <p:regular r:id="rId33"/>
    </p:embeddedFont>
    <p:embeddedFont>
      <p:font typeface="WC Mano Negra Bold" charset="1" panose="02000506000000020004"/>
      <p:regular r:id="rId34"/>
    </p:embeddedFont>
    <p:embeddedFont>
      <p:font typeface="Knockout Featherweight Ultra-Bold" charset="1" panose="020005060400000200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jpeg" Type="http://schemas.openxmlformats.org/officeDocument/2006/relationships/image"/><Relationship Id="rId5" Target="../media/VAG2_-bNBLQ.mp4" Type="http://schemas.openxmlformats.org/officeDocument/2006/relationships/video"/><Relationship Id="rId6" Target="../media/VAG2_-bNBLQ.mp4" Type="http://schemas.microsoft.com/office/2007/relationships/media"/></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3189027" y="3150770"/>
            <a:ext cx="11909946" cy="4504125"/>
          </a:xfrm>
          <a:custGeom>
            <a:avLst/>
            <a:gdLst/>
            <a:ahLst/>
            <a:cxnLst/>
            <a:rect r="r" b="b" t="t" l="l"/>
            <a:pathLst>
              <a:path h="4504125" w="11909946">
                <a:moveTo>
                  <a:pt x="0" y="0"/>
                </a:moveTo>
                <a:lnTo>
                  <a:pt x="11909946" y="0"/>
                </a:lnTo>
                <a:lnTo>
                  <a:pt x="11909946" y="4504125"/>
                </a:lnTo>
                <a:lnTo>
                  <a:pt x="0" y="45041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48722" y="866775"/>
            <a:ext cx="14390556" cy="1222670"/>
          </a:xfrm>
          <a:prstGeom prst="rect">
            <a:avLst/>
          </a:prstGeom>
        </p:spPr>
        <p:txBody>
          <a:bodyPr anchor="t" rtlCol="false" tIns="0" lIns="0" bIns="0" rIns="0">
            <a:spAutoFit/>
          </a:bodyPr>
          <a:lstStyle/>
          <a:p>
            <a:pPr algn="ctr">
              <a:lnSpc>
                <a:spcPts val="9785"/>
              </a:lnSpc>
              <a:spcBef>
                <a:spcPct val="0"/>
              </a:spcBef>
            </a:pPr>
            <a:r>
              <a:rPr lang="en-US" sz="6989" spc="293">
                <a:solidFill>
                  <a:srgbClr val="000000"/>
                </a:solidFill>
                <a:latin typeface="Times New Roman"/>
                <a:ea typeface="Times New Roman"/>
                <a:cs typeface="Times New Roman"/>
                <a:sym typeface="Times New Roman"/>
              </a:rPr>
              <a:t>References in the Koine Greek Bible</a:t>
            </a:r>
          </a:p>
        </p:txBody>
      </p:sp>
      <p:sp>
        <p:nvSpPr>
          <p:cNvPr name="TextBox 4" id="4"/>
          <p:cNvSpPr txBox="true"/>
          <p:nvPr/>
        </p:nvSpPr>
        <p:spPr>
          <a:xfrm rot="0">
            <a:off x="3389780" y="7888788"/>
            <a:ext cx="12350651"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7183A0"/>
                </a:solidFill>
                <a:latin typeface="Times New Roman"/>
                <a:ea typeface="Times New Roman"/>
                <a:cs typeface="Times New Roman"/>
                <a:sym typeface="Times New Roman"/>
              </a:rPr>
              <a:t>Presented by Wes Stevick &amp; Isaac Anderson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2538663" y="1317127"/>
            <a:ext cx="13447708" cy="4084741"/>
          </a:xfrm>
          <a:custGeom>
            <a:avLst/>
            <a:gdLst/>
            <a:ahLst/>
            <a:cxnLst/>
            <a:rect r="r" b="b" t="t" l="l"/>
            <a:pathLst>
              <a:path h="4084741" w="13447708">
                <a:moveTo>
                  <a:pt x="0" y="0"/>
                </a:moveTo>
                <a:lnTo>
                  <a:pt x="13447708" y="0"/>
                </a:lnTo>
                <a:lnTo>
                  <a:pt x="13447708" y="4084741"/>
                </a:lnTo>
                <a:lnTo>
                  <a:pt x="0" y="4084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98581" y="146048"/>
            <a:ext cx="9290839"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Our mission.</a:t>
            </a:r>
          </a:p>
        </p:txBody>
      </p:sp>
      <p:sp>
        <p:nvSpPr>
          <p:cNvPr name="TextBox 4" id="4"/>
          <p:cNvSpPr txBox="true"/>
          <p:nvPr/>
        </p:nvSpPr>
        <p:spPr>
          <a:xfrm rot="0">
            <a:off x="2788910" y="2053472"/>
            <a:ext cx="12748280" cy="1768477"/>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Discover how New Testament Authors use the Old Testament.</a:t>
            </a:r>
          </a:p>
        </p:txBody>
      </p:sp>
      <p:sp>
        <p:nvSpPr>
          <p:cNvPr name="Freeform 5" id="5"/>
          <p:cNvSpPr/>
          <p:nvPr/>
        </p:nvSpPr>
        <p:spPr>
          <a:xfrm flipH="false" flipV="false" rot="0">
            <a:off x="4725710" y="7006012"/>
            <a:ext cx="8836580" cy="2684111"/>
          </a:xfrm>
          <a:custGeom>
            <a:avLst/>
            <a:gdLst/>
            <a:ahLst/>
            <a:cxnLst/>
            <a:rect r="r" b="b" t="t" l="l"/>
            <a:pathLst>
              <a:path h="2684111" w="8836580">
                <a:moveTo>
                  <a:pt x="0" y="0"/>
                </a:moveTo>
                <a:lnTo>
                  <a:pt x="8836580" y="0"/>
                </a:lnTo>
                <a:lnTo>
                  <a:pt x="8836580" y="2684112"/>
                </a:lnTo>
                <a:lnTo>
                  <a:pt x="0" y="26841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395310" y="5878093"/>
            <a:ext cx="9290839"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Our tools.</a:t>
            </a:r>
          </a:p>
        </p:txBody>
      </p:sp>
      <p:sp>
        <p:nvSpPr>
          <p:cNvPr name="TextBox 7" id="7"/>
          <p:cNvSpPr txBox="true"/>
          <p:nvPr/>
        </p:nvSpPr>
        <p:spPr>
          <a:xfrm rot="0">
            <a:off x="4395310" y="7401917"/>
            <a:ext cx="9290839" cy="1768477"/>
          </a:xfrm>
          <a:prstGeom prst="rect">
            <a:avLst/>
          </a:prstGeom>
        </p:spPr>
        <p:txBody>
          <a:bodyPr anchor="t" rtlCol="false" tIns="0" lIns="0" bIns="0" rIns="0">
            <a:spAutoFit/>
          </a:bodyPr>
          <a:lstStyle/>
          <a:p>
            <a:pPr algn="ctr">
              <a:lnSpc>
                <a:spcPts val="6999"/>
              </a:lnSpc>
            </a:pPr>
            <a:r>
              <a:rPr lang="en-US" sz="4999" spc="209">
                <a:solidFill>
                  <a:srgbClr val="FF3131"/>
                </a:solidFill>
                <a:latin typeface="Times New Roman"/>
                <a:ea typeface="Times New Roman"/>
                <a:cs typeface="Times New Roman"/>
                <a:sym typeface="Times New Roman"/>
              </a:rPr>
              <a:t>Word2Vec</a:t>
            </a:r>
          </a:p>
          <a:p>
            <a:pPr algn="ctr">
              <a:lnSpc>
                <a:spcPts val="6999"/>
              </a:lnSpc>
              <a:spcBef>
                <a:spcPct val="0"/>
              </a:spcBef>
            </a:pPr>
            <a:r>
              <a:rPr lang="en-US" sz="4999" spc="209">
                <a:solidFill>
                  <a:srgbClr val="00BF63"/>
                </a:solidFill>
                <a:latin typeface="Times New Roman"/>
                <a:ea typeface="Times New Roman"/>
                <a:cs typeface="Times New Roman"/>
                <a:sym typeface="Times New Roman"/>
              </a:rPr>
              <a:t>Slinding Window Search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4274526" y="659355"/>
            <a:ext cx="8836580" cy="2684111"/>
          </a:xfrm>
          <a:custGeom>
            <a:avLst/>
            <a:gdLst/>
            <a:ahLst/>
            <a:cxnLst/>
            <a:rect r="r" b="b" t="t" l="l"/>
            <a:pathLst>
              <a:path h="2684111" w="8836580">
                <a:moveTo>
                  <a:pt x="0" y="0"/>
                </a:moveTo>
                <a:lnTo>
                  <a:pt x="8836580" y="0"/>
                </a:lnTo>
                <a:lnTo>
                  <a:pt x="8836580" y="2684111"/>
                </a:lnTo>
                <a:lnTo>
                  <a:pt x="0" y="26841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44125" y="1055259"/>
            <a:ext cx="9290839" cy="1768477"/>
          </a:xfrm>
          <a:prstGeom prst="rect">
            <a:avLst/>
          </a:prstGeom>
        </p:spPr>
        <p:txBody>
          <a:bodyPr anchor="t" rtlCol="false" tIns="0" lIns="0" bIns="0" rIns="0">
            <a:spAutoFit/>
          </a:bodyPr>
          <a:lstStyle/>
          <a:p>
            <a:pPr algn="ctr">
              <a:lnSpc>
                <a:spcPts val="6999"/>
              </a:lnSpc>
            </a:pPr>
            <a:r>
              <a:rPr lang="en-US" sz="4999" spc="209">
                <a:solidFill>
                  <a:srgbClr val="FF3131"/>
                </a:solidFill>
                <a:latin typeface="Times New Roman"/>
                <a:ea typeface="Times New Roman"/>
                <a:cs typeface="Times New Roman"/>
                <a:sym typeface="Times New Roman"/>
              </a:rPr>
              <a:t>→ Word2Vec</a:t>
            </a:r>
          </a:p>
          <a:p>
            <a:pPr algn="ctr">
              <a:lnSpc>
                <a:spcPts val="6999"/>
              </a:lnSpc>
              <a:spcBef>
                <a:spcPct val="0"/>
              </a:spcBef>
            </a:pPr>
            <a:r>
              <a:rPr lang="en-US" sz="4999" spc="209">
                <a:solidFill>
                  <a:srgbClr val="00BF63"/>
                </a:solidFill>
                <a:latin typeface="Times New Roman"/>
                <a:ea typeface="Times New Roman"/>
                <a:cs typeface="Times New Roman"/>
                <a:sym typeface="Times New Roman"/>
              </a:rPr>
              <a:t>Slinding Window Search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sp>
        <p:nvSpPr>
          <p:cNvPr name="TextBox 2" id="2"/>
          <p:cNvSpPr txBox="true"/>
          <p:nvPr/>
        </p:nvSpPr>
        <p:spPr>
          <a:xfrm rot="0">
            <a:off x="4498581" y="146048"/>
            <a:ext cx="9290839"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What is Word2Vec?</a:t>
            </a:r>
          </a:p>
        </p:txBody>
      </p:sp>
      <p:sp>
        <p:nvSpPr>
          <p:cNvPr name="TextBox 3" id="3"/>
          <p:cNvSpPr txBox="true"/>
          <p:nvPr/>
        </p:nvSpPr>
        <p:spPr>
          <a:xfrm rot="0">
            <a:off x="2623077" y="1291559"/>
            <a:ext cx="12397085" cy="1555116"/>
          </a:xfrm>
          <a:prstGeom prst="rect">
            <a:avLst/>
          </a:prstGeom>
        </p:spPr>
        <p:txBody>
          <a:bodyPr anchor="t" rtlCol="false" tIns="0" lIns="0" bIns="0" rIns="0">
            <a:spAutoFit/>
          </a:bodyPr>
          <a:lstStyle/>
          <a:p>
            <a:pPr algn="just" marL="949949" indent="-474975" lvl="1">
              <a:lnSpc>
                <a:spcPts val="6159"/>
              </a:lnSpc>
              <a:buFont typeface="Arial"/>
              <a:buChar char="•"/>
            </a:pPr>
            <a:r>
              <a:rPr lang="en-US" sz="4399" spc="184">
                <a:solidFill>
                  <a:srgbClr val="000000"/>
                </a:solidFill>
                <a:latin typeface="Times New Roman"/>
                <a:ea typeface="Times New Roman"/>
                <a:cs typeface="Times New Roman"/>
                <a:sym typeface="Times New Roman"/>
              </a:rPr>
              <a:t>Turning words into vectors</a:t>
            </a:r>
          </a:p>
          <a:p>
            <a:pPr algn="just" marL="949949" indent="-474975" lvl="1">
              <a:lnSpc>
                <a:spcPts val="6159"/>
              </a:lnSpc>
              <a:buFont typeface="Arial"/>
              <a:buChar char="•"/>
            </a:pPr>
            <a:r>
              <a:rPr lang="en-US" sz="4399" spc="184">
                <a:solidFill>
                  <a:srgbClr val="000000"/>
                </a:solidFill>
                <a:latin typeface="Times New Roman"/>
                <a:ea typeface="Times New Roman"/>
                <a:cs typeface="Times New Roman"/>
                <a:sym typeface="Times New Roman"/>
              </a:rPr>
              <a:t>Visualising the different attributes of the word</a:t>
            </a:r>
          </a:p>
        </p:txBody>
      </p:sp>
      <p:sp>
        <p:nvSpPr>
          <p:cNvPr name="Freeform 4" id="4"/>
          <p:cNvSpPr/>
          <p:nvPr/>
        </p:nvSpPr>
        <p:spPr>
          <a:xfrm flipH="false" flipV="false" rot="0">
            <a:off x="675869" y="3214310"/>
            <a:ext cx="16291502" cy="6403465"/>
          </a:xfrm>
          <a:custGeom>
            <a:avLst/>
            <a:gdLst/>
            <a:ahLst/>
            <a:cxnLst/>
            <a:rect r="r" b="b" t="t" l="l"/>
            <a:pathLst>
              <a:path h="6403465" w="16291502">
                <a:moveTo>
                  <a:pt x="0" y="0"/>
                </a:moveTo>
                <a:lnTo>
                  <a:pt x="16291502" y="0"/>
                </a:lnTo>
                <a:lnTo>
                  <a:pt x="16291502" y="6403465"/>
                </a:lnTo>
                <a:lnTo>
                  <a:pt x="0" y="6403465"/>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FFF9EA"/>
        </a:solidFill>
      </p:bgPr>
    </p:bg>
    <p:spTree>
      <p:nvGrpSpPr>
        <p:cNvPr id="1" name=""/>
        <p:cNvGrpSpPr/>
        <p:nvPr/>
      </p:nvGrpSpPr>
      <p:grpSpPr>
        <a:xfrm>
          <a:off x="0" y="0"/>
          <a:ext cx="0" cy="0"/>
          <a:chOff x="0" y="0"/>
          <a:chExt cx="0" cy="0"/>
        </a:xfrm>
      </p:grpSpPr>
      <p:sp>
        <p:nvSpPr>
          <p:cNvPr name="TextBox 2" id="2"/>
          <p:cNvSpPr txBox="true"/>
          <p:nvPr/>
        </p:nvSpPr>
        <p:spPr>
          <a:xfrm rot="0">
            <a:off x="4182752" y="612272"/>
            <a:ext cx="9290839" cy="1768477"/>
          </a:xfrm>
          <a:prstGeom prst="rect">
            <a:avLst/>
          </a:prstGeom>
        </p:spPr>
        <p:txBody>
          <a:bodyPr anchor="t" rtlCol="false" tIns="0" lIns="0" bIns="0" rIns="0">
            <a:spAutoFit/>
          </a:bodyPr>
          <a:lstStyle/>
          <a:p>
            <a:pPr algn="ctr">
              <a:lnSpc>
                <a:spcPts val="6999"/>
              </a:lnSpc>
            </a:pPr>
            <a:r>
              <a:rPr lang="en-US" sz="4999" spc="209">
                <a:solidFill>
                  <a:srgbClr val="000000"/>
                </a:solidFill>
                <a:latin typeface="Times New Roman"/>
                <a:ea typeface="Times New Roman"/>
                <a:cs typeface="Times New Roman"/>
                <a:sym typeface="Times New Roman"/>
              </a:rPr>
              <a:t>Why Word2Vec Didn’t work</a:t>
            </a:r>
          </a:p>
          <a:p>
            <a:pPr algn="ctr">
              <a:lnSpc>
                <a:spcPts val="6999"/>
              </a:lnSpc>
              <a:spcBef>
                <a:spcPct val="0"/>
              </a:spcBef>
            </a:pPr>
          </a:p>
        </p:txBody>
      </p:sp>
      <p:sp>
        <p:nvSpPr>
          <p:cNvPr name="TextBox 3" id="3"/>
          <p:cNvSpPr txBox="true"/>
          <p:nvPr/>
        </p:nvSpPr>
        <p:spPr>
          <a:xfrm rot="0">
            <a:off x="757989" y="1431923"/>
            <a:ext cx="9290839" cy="8855077"/>
          </a:xfrm>
          <a:prstGeom prst="rect">
            <a:avLst/>
          </a:prstGeom>
        </p:spPr>
        <p:txBody>
          <a:bodyPr anchor="t" rtlCol="false" tIns="0" lIns="0" bIns="0" rIns="0">
            <a:spAutoFit/>
          </a:bodyPr>
          <a:lstStyle/>
          <a:p>
            <a:pPr algn="l">
              <a:lnSpc>
                <a:spcPts val="6999"/>
              </a:lnSpc>
            </a:pPr>
            <a:r>
              <a:rPr lang="en-US" sz="4999" spc="209">
                <a:solidFill>
                  <a:srgbClr val="000000"/>
                </a:solidFill>
                <a:latin typeface="Times New Roman"/>
                <a:ea typeface="Times New Roman"/>
                <a:cs typeface="Times New Roman"/>
                <a:sym typeface="Times New Roman"/>
              </a:rPr>
              <a:t>66 books</a:t>
            </a:r>
          </a:p>
          <a:p>
            <a:pPr algn="l">
              <a:lnSpc>
                <a:spcPts val="6999"/>
              </a:lnSpc>
            </a:pPr>
            <a:r>
              <a:rPr lang="en-US" sz="4999" spc="209">
                <a:solidFill>
                  <a:srgbClr val="000000"/>
                </a:solidFill>
                <a:latin typeface="Times New Roman"/>
                <a:ea typeface="Times New Roman"/>
                <a:cs typeface="Times New Roman"/>
                <a:sym typeface="Times New Roman"/>
              </a:rPr>
              <a:t>30,782 verses</a:t>
            </a:r>
          </a:p>
          <a:p>
            <a:pPr algn="l">
              <a:lnSpc>
                <a:spcPts val="6999"/>
              </a:lnSpc>
            </a:pPr>
            <a:r>
              <a:rPr lang="en-US" sz="4999" spc="209">
                <a:solidFill>
                  <a:srgbClr val="000000"/>
                </a:solidFill>
                <a:latin typeface="Times New Roman"/>
                <a:ea typeface="Times New Roman"/>
                <a:cs typeface="Times New Roman"/>
                <a:sym typeface="Times New Roman"/>
              </a:rPr>
              <a:t>612,952 words</a:t>
            </a:r>
          </a:p>
          <a:p>
            <a:pPr algn="l">
              <a:lnSpc>
                <a:spcPts val="6999"/>
              </a:lnSpc>
            </a:pPr>
            <a:r>
              <a:rPr lang="en-US" sz="4999" spc="209">
                <a:solidFill>
                  <a:srgbClr val="FF3131"/>
                </a:solidFill>
                <a:latin typeface="Times New Roman"/>
                <a:ea typeface="Times New Roman"/>
                <a:cs typeface="Times New Roman"/>
                <a:sym typeface="Times New Roman"/>
              </a:rPr>
              <a:t>52,740</a:t>
            </a:r>
            <a:r>
              <a:rPr lang="en-US" sz="4999" spc="209">
                <a:solidFill>
                  <a:srgbClr val="000000"/>
                </a:solidFill>
                <a:latin typeface="Times New Roman"/>
                <a:ea typeface="Times New Roman"/>
                <a:cs typeface="Times New Roman"/>
                <a:sym typeface="Times New Roman"/>
              </a:rPr>
              <a:t> unique words</a:t>
            </a:r>
          </a:p>
          <a:p>
            <a:pPr algn="l">
              <a:lnSpc>
                <a:spcPts val="6999"/>
              </a:lnSpc>
            </a:pPr>
          </a:p>
          <a:p>
            <a:pPr algn="l">
              <a:lnSpc>
                <a:spcPts val="6999"/>
              </a:lnSpc>
            </a:pPr>
            <a:r>
              <a:rPr lang="en-US" sz="4999" spc="209">
                <a:solidFill>
                  <a:srgbClr val="000000"/>
                </a:solidFill>
                <a:latin typeface="Times New Roman"/>
                <a:ea typeface="Times New Roman"/>
                <a:cs typeface="Times New Roman"/>
                <a:sym typeface="Times New Roman"/>
              </a:rPr>
              <a:t>The top 10 words make up 39% and are all semantically meaningless with the exception of LORD.</a:t>
            </a:r>
          </a:p>
          <a:p>
            <a:pPr algn="l">
              <a:lnSpc>
                <a:spcPts val="699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9EA"/>
        </a:solidFill>
      </p:bgPr>
    </p:bg>
    <p:spTree>
      <p:nvGrpSpPr>
        <p:cNvPr id="1" name=""/>
        <p:cNvGrpSpPr/>
        <p:nvPr/>
      </p:nvGrpSpPr>
      <p:grpSpPr>
        <a:xfrm>
          <a:off x="0" y="0"/>
          <a:ext cx="0" cy="0"/>
          <a:chOff x="0" y="0"/>
          <a:chExt cx="0" cy="0"/>
        </a:xfrm>
      </p:grpSpPr>
      <p:sp>
        <p:nvSpPr>
          <p:cNvPr name="TextBox 2" id="2"/>
          <p:cNvSpPr txBox="true"/>
          <p:nvPr/>
        </p:nvSpPr>
        <p:spPr>
          <a:xfrm rot="0">
            <a:off x="4051568" y="390021"/>
            <a:ext cx="9290839" cy="1768477"/>
          </a:xfrm>
          <a:prstGeom prst="rect">
            <a:avLst/>
          </a:prstGeom>
        </p:spPr>
        <p:txBody>
          <a:bodyPr anchor="t" rtlCol="false" tIns="0" lIns="0" bIns="0" rIns="0">
            <a:spAutoFit/>
          </a:bodyPr>
          <a:lstStyle/>
          <a:p>
            <a:pPr algn="ctr">
              <a:lnSpc>
                <a:spcPts val="6999"/>
              </a:lnSpc>
            </a:pPr>
            <a:r>
              <a:rPr lang="en-US" sz="4999" spc="209">
                <a:solidFill>
                  <a:srgbClr val="000000"/>
                </a:solidFill>
                <a:latin typeface="Times New Roman"/>
                <a:ea typeface="Times New Roman"/>
                <a:cs typeface="Times New Roman"/>
                <a:sym typeface="Times New Roman"/>
              </a:rPr>
              <a:t>Why Word2Vec Didn’t work</a:t>
            </a:r>
          </a:p>
          <a:p>
            <a:pPr algn="ctr">
              <a:lnSpc>
                <a:spcPts val="6999"/>
              </a:lnSpc>
              <a:spcBef>
                <a:spcPct val="0"/>
              </a:spcBef>
            </a:pPr>
          </a:p>
        </p:txBody>
      </p:sp>
      <p:sp>
        <p:nvSpPr>
          <p:cNvPr name="TextBox 3" id="3"/>
          <p:cNvSpPr txBox="true"/>
          <p:nvPr/>
        </p:nvSpPr>
        <p:spPr>
          <a:xfrm rot="0">
            <a:off x="2382253" y="1384576"/>
            <a:ext cx="11464389" cy="9740902"/>
          </a:xfrm>
          <a:prstGeom prst="rect">
            <a:avLst/>
          </a:prstGeom>
        </p:spPr>
        <p:txBody>
          <a:bodyPr anchor="t" rtlCol="false" tIns="0" lIns="0" bIns="0" rIns="0">
            <a:spAutoFit/>
          </a:bodyPr>
          <a:lstStyle/>
          <a:p>
            <a:pPr algn="l">
              <a:lnSpc>
                <a:spcPts val="6999"/>
              </a:lnSpc>
            </a:pPr>
            <a:r>
              <a:rPr lang="en-US" sz="4999" spc="209">
                <a:solidFill>
                  <a:srgbClr val="000000"/>
                </a:solidFill>
                <a:latin typeface="Times New Roman"/>
                <a:ea typeface="Times New Roman"/>
                <a:cs typeface="Times New Roman"/>
                <a:sym typeface="Times New Roman"/>
              </a:rPr>
              <a:t>Loss per word:</a:t>
            </a:r>
          </a:p>
          <a:p>
            <a:pPr algn="l">
              <a:lnSpc>
                <a:spcPts val="6999"/>
              </a:lnSpc>
            </a:pPr>
            <a:r>
              <a:rPr lang="en-US" sz="4999" spc="209">
                <a:solidFill>
                  <a:srgbClr val="000000"/>
                </a:solidFill>
                <a:latin typeface="Times New Roman"/>
                <a:ea typeface="Times New Roman"/>
                <a:cs typeface="Times New Roman"/>
                <a:sym typeface="Times New Roman"/>
              </a:rPr>
              <a:t>Unstable: </a:t>
            </a:r>
            <a:r>
              <a:rPr lang="en-US" sz="4999" spc="209" b="true">
                <a:solidFill>
                  <a:srgbClr val="FF3131"/>
                </a:solidFill>
                <a:latin typeface="Times New Roman Bold"/>
                <a:ea typeface="Times New Roman Bold"/>
                <a:cs typeface="Times New Roman Bold"/>
                <a:sym typeface="Times New Roman Bold"/>
              </a:rPr>
              <a:t>20-40</a:t>
            </a:r>
            <a:r>
              <a:rPr lang="en-US" sz="4999" spc="209">
                <a:solidFill>
                  <a:srgbClr val="000000"/>
                </a:solidFill>
                <a:latin typeface="Times New Roman"/>
                <a:ea typeface="Times New Roman"/>
                <a:cs typeface="Times New Roman"/>
                <a:sym typeface="Times New Roman"/>
              </a:rPr>
              <a:t> </a:t>
            </a:r>
          </a:p>
          <a:p>
            <a:pPr algn="l">
              <a:lnSpc>
                <a:spcPts val="6999"/>
              </a:lnSpc>
            </a:pPr>
            <a:r>
              <a:rPr lang="en-US" sz="4999" spc="209">
                <a:solidFill>
                  <a:srgbClr val="000000"/>
                </a:solidFill>
                <a:latin typeface="Times New Roman"/>
                <a:ea typeface="Times New Roman"/>
                <a:cs typeface="Times New Roman"/>
                <a:sym typeface="Times New Roman"/>
              </a:rPr>
              <a:t>Learning structure: </a:t>
            </a:r>
            <a:r>
              <a:rPr lang="en-US" sz="4999" spc="209" b="true">
                <a:solidFill>
                  <a:srgbClr val="FF751F"/>
                </a:solidFill>
                <a:latin typeface="Times New Roman Bold"/>
                <a:ea typeface="Times New Roman Bold"/>
                <a:cs typeface="Times New Roman Bold"/>
                <a:sym typeface="Times New Roman Bold"/>
              </a:rPr>
              <a:t>5-10</a:t>
            </a:r>
            <a:r>
              <a:rPr lang="en-US" sz="4999" spc="209">
                <a:solidFill>
                  <a:srgbClr val="000000"/>
                </a:solidFill>
                <a:latin typeface="Times New Roman"/>
                <a:ea typeface="Times New Roman"/>
                <a:cs typeface="Times New Roman"/>
                <a:sym typeface="Times New Roman"/>
              </a:rPr>
              <a:t> </a:t>
            </a:r>
          </a:p>
          <a:p>
            <a:pPr algn="l">
              <a:lnSpc>
                <a:spcPts val="6999"/>
              </a:lnSpc>
            </a:pPr>
            <a:r>
              <a:rPr lang="en-US" sz="4999" spc="209">
                <a:solidFill>
                  <a:srgbClr val="000000"/>
                </a:solidFill>
                <a:latin typeface="Times New Roman"/>
                <a:ea typeface="Times New Roman"/>
                <a:cs typeface="Times New Roman"/>
                <a:sym typeface="Times New Roman"/>
              </a:rPr>
              <a:t>Converged: </a:t>
            </a:r>
            <a:r>
              <a:rPr lang="en-US" sz="4999" spc="209" b="true">
                <a:solidFill>
                  <a:srgbClr val="00BF63"/>
                </a:solidFill>
                <a:latin typeface="Times New Roman Bold"/>
                <a:ea typeface="Times New Roman Bold"/>
                <a:cs typeface="Times New Roman Bold"/>
                <a:sym typeface="Times New Roman Bold"/>
              </a:rPr>
              <a:t>2-6</a:t>
            </a:r>
          </a:p>
          <a:p>
            <a:pPr algn="l">
              <a:lnSpc>
                <a:spcPts val="6999"/>
              </a:lnSpc>
            </a:pPr>
          </a:p>
          <a:p>
            <a:pPr algn="l">
              <a:lnSpc>
                <a:spcPts val="6999"/>
              </a:lnSpc>
            </a:pPr>
            <a:r>
              <a:rPr lang="en-US" sz="4999" spc="209">
                <a:solidFill>
                  <a:srgbClr val="000000"/>
                </a:solidFill>
                <a:latin typeface="Times New Roman"/>
                <a:ea typeface="Times New Roman"/>
                <a:cs typeface="Times New Roman"/>
                <a:sym typeface="Times New Roman"/>
              </a:rPr>
              <a:t>Our loss after 100 epochs: 61,292,500</a:t>
            </a:r>
          </a:p>
          <a:p>
            <a:pPr algn="l">
              <a:lnSpc>
                <a:spcPts val="6999"/>
              </a:lnSpc>
            </a:pPr>
          </a:p>
          <a:p>
            <a:pPr algn="l">
              <a:lnSpc>
                <a:spcPts val="6999"/>
              </a:lnSpc>
            </a:pPr>
            <a:r>
              <a:rPr lang="en-US" sz="4999" spc="209">
                <a:solidFill>
                  <a:srgbClr val="000000"/>
                </a:solidFill>
                <a:latin typeface="Times New Roman"/>
                <a:ea typeface="Times New Roman"/>
                <a:cs typeface="Times New Roman"/>
                <a:sym typeface="Times New Roman"/>
              </a:rPr>
              <a:t> 61,292,500 / 46,067 = </a:t>
            </a:r>
            <a:r>
              <a:rPr lang="en-US" sz="4999" spc="209" b="true">
                <a:solidFill>
                  <a:srgbClr val="FF3131"/>
                </a:solidFill>
                <a:latin typeface="Times New Roman Bold"/>
                <a:ea typeface="Times New Roman Bold"/>
                <a:cs typeface="Times New Roman Bold"/>
                <a:sym typeface="Times New Roman Bold"/>
              </a:rPr>
              <a:t>1,330 </a:t>
            </a:r>
            <a:r>
              <a:rPr lang="en-US" sz="4999" spc="209">
                <a:solidFill>
                  <a:srgbClr val="000000"/>
                </a:solidFill>
                <a:latin typeface="Times New Roman"/>
                <a:ea typeface="Times New Roman"/>
                <a:cs typeface="Times New Roman"/>
                <a:sym typeface="Times New Roman"/>
              </a:rPr>
              <a:t>per word</a:t>
            </a:r>
          </a:p>
          <a:p>
            <a:pPr algn="l">
              <a:lnSpc>
                <a:spcPts val="6999"/>
              </a:lnSpc>
            </a:pPr>
          </a:p>
          <a:p>
            <a:pPr algn="l">
              <a:lnSpc>
                <a:spcPts val="6999"/>
              </a:lnSpc>
            </a:pPr>
          </a:p>
          <a:p>
            <a:pPr algn="l">
              <a:lnSpc>
                <a:spcPts val="69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sp>
        <p:nvSpPr>
          <p:cNvPr name="Freeform 2" id="2"/>
          <p:cNvSpPr/>
          <p:nvPr/>
        </p:nvSpPr>
        <p:spPr>
          <a:xfrm flipH="false" flipV="false" rot="0">
            <a:off x="1734212" y="4816535"/>
            <a:ext cx="1763206" cy="1708105"/>
          </a:xfrm>
          <a:custGeom>
            <a:avLst/>
            <a:gdLst/>
            <a:ahLst/>
            <a:cxnLst/>
            <a:rect r="r" b="b" t="t" l="l"/>
            <a:pathLst>
              <a:path h="1708105" w="1763206">
                <a:moveTo>
                  <a:pt x="0" y="0"/>
                </a:moveTo>
                <a:lnTo>
                  <a:pt x="1763205" y="0"/>
                </a:lnTo>
                <a:lnTo>
                  <a:pt x="1763205" y="1708105"/>
                </a:lnTo>
                <a:lnTo>
                  <a:pt x="0" y="1708105"/>
                </a:lnTo>
                <a:lnTo>
                  <a:pt x="0" y="0"/>
                </a:lnTo>
                <a:close/>
              </a:path>
            </a:pathLst>
          </a:custGeom>
          <a:blipFill>
            <a:blip r:embed="rId2"/>
            <a:stretch>
              <a:fillRect l="0" t="0" r="0" b="0"/>
            </a:stretch>
          </a:blipFill>
        </p:spPr>
      </p:sp>
      <p:sp>
        <p:nvSpPr>
          <p:cNvPr name="Freeform 3" id="3"/>
          <p:cNvSpPr/>
          <p:nvPr/>
        </p:nvSpPr>
        <p:spPr>
          <a:xfrm flipH="false" flipV="false" rot="0">
            <a:off x="7604953" y="4816535"/>
            <a:ext cx="1694462" cy="1641510"/>
          </a:xfrm>
          <a:custGeom>
            <a:avLst/>
            <a:gdLst/>
            <a:ahLst/>
            <a:cxnLst/>
            <a:rect r="r" b="b" t="t" l="l"/>
            <a:pathLst>
              <a:path h="1641510" w="1694462">
                <a:moveTo>
                  <a:pt x="0" y="0"/>
                </a:moveTo>
                <a:lnTo>
                  <a:pt x="1694462" y="0"/>
                </a:lnTo>
                <a:lnTo>
                  <a:pt x="1694462" y="1641510"/>
                </a:lnTo>
                <a:lnTo>
                  <a:pt x="0" y="1641510"/>
                </a:lnTo>
                <a:lnTo>
                  <a:pt x="0" y="0"/>
                </a:lnTo>
                <a:close/>
              </a:path>
            </a:pathLst>
          </a:custGeom>
          <a:blipFill>
            <a:blip r:embed="rId2"/>
            <a:stretch>
              <a:fillRect l="0" t="0" r="0" b="0"/>
            </a:stretch>
          </a:blipFill>
        </p:spPr>
      </p:sp>
      <p:sp>
        <p:nvSpPr>
          <p:cNvPr name="Freeform 4" id="4"/>
          <p:cNvSpPr/>
          <p:nvPr/>
        </p:nvSpPr>
        <p:spPr>
          <a:xfrm flipH="false" flipV="false" rot="0">
            <a:off x="9591743" y="4816535"/>
            <a:ext cx="1614725" cy="1564265"/>
          </a:xfrm>
          <a:custGeom>
            <a:avLst/>
            <a:gdLst/>
            <a:ahLst/>
            <a:cxnLst/>
            <a:rect r="r" b="b" t="t" l="l"/>
            <a:pathLst>
              <a:path h="1564265" w="1614725">
                <a:moveTo>
                  <a:pt x="0" y="0"/>
                </a:moveTo>
                <a:lnTo>
                  <a:pt x="1614725" y="0"/>
                </a:lnTo>
                <a:lnTo>
                  <a:pt x="1614725" y="1564264"/>
                </a:lnTo>
                <a:lnTo>
                  <a:pt x="0" y="1564264"/>
                </a:lnTo>
                <a:lnTo>
                  <a:pt x="0" y="0"/>
                </a:lnTo>
                <a:close/>
              </a:path>
            </a:pathLst>
          </a:custGeom>
          <a:blipFill>
            <a:blip r:embed="rId2"/>
            <a:stretch>
              <a:fillRect l="0" t="0" r="0" b="0"/>
            </a:stretch>
          </a:blipFill>
        </p:spPr>
      </p:sp>
      <p:sp>
        <p:nvSpPr>
          <p:cNvPr name="Freeform 5" id="5"/>
          <p:cNvSpPr/>
          <p:nvPr/>
        </p:nvSpPr>
        <p:spPr>
          <a:xfrm flipH="false" flipV="false" rot="0">
            <a:off x="11532583" y="4816535"/>
            <a:ext cx="1614725" cy="1564265"/>
          </a:xfrm>
          <a:custGeom>
            <a:avLst/>
            <a:gdLst/>
            <a:ahLst/>
            <a:cxnLst/>
            <a:rect r="r" b="b" t="t" l="l"/>
            <a:pathLst>
              <a:path h="1564265" w="1614725">
                <a:moveTo>
                  <a:pt x="0" y="0"/>
                </a:moveTo>
                <a:lnTo>
                  <a:pt x="1614725" y="0"/>
                </a:lnTo>
                <a:lnTo>
                  <a:pt x="1614725" y="1564264"/>
                </a:lnTo>
                <a:lnTo>
                  <a:pt x="0" y="1564264"/>
                </a:lnTo>
                <a:lnTo>
                  <a:pt x="0" y="0"/>
                </a:lnTo>
                <a:close/>
              </a:path>
            </a:pathLst>
          </a:custGeom>
          <a:blipFill>
            <a:blip r:embed="rId2"/>
            <a:stretch>
              <a:fillRect l="0" t="0" r="0" b="0"/>
            </a:stretch>
          </a:blipFill>
        </p:spPr>
      </p:sp>
      <p:sp>
        <p:nvSpPr>
          <p:cNvPr name="Freeform 6" id="6"/>
          <p:cNvSpPr/>
          <p:nvPr/>
        </p:nvSpPr>
        <p:spPr>
          <a:xfrm flipH="false" flipV="false" rot="0">
            <a:off x="13473423" y="4816535"/>
            <a:ext cx="1614725" cy="1564265"/>
          </a:xfrm>
          <a:custGeom>
            <a:avLst/>
            <a:gdLst/>
            <a:ahLst/>
            <a:cxnLst/>
            <a:rect r="r" b="b" t="t" l="l"/>
            <a:pathLst>
              <a:path h="1564265" w="1614725">
                <a:moveTo>
                  <a:pt x="0" y="0"/>
                </a:moveTo>
                <a:lnTo>
                  <a:pt x="1614725" y="0"/>
                </a:lnTo>
                <a:lnTo>
                  <a:pt x="1614725" y="1564264"/>
                </a:lnTo>
                <a:lnTo>
                  <a:pt x="0" y="1564264"/>
                </a:lnTo>
                <a:lnTo>
                  <a:pt x="0" y="0"/>
                </a:lnTo>
                <a:close/>
              </a:path>
            </a:pathLst>
          </a:custGeom>
          <a:blipFill>
            <a:blip r:embed="rId2"/>
            <a:stretch>
              <a:fillRect l="0" t="0" r="0" b="0"/>
            </a:stretch>
          </a:blipFill>
        </p:spPr>
      </p:sp>
      <p:sp>
        <p:nvSpPr>
          <p:cNvPr name="Freeform 7" id="7"/>
          <p:cNvSpPr/>
          <p:nvPr/>
        </p:nvSpPr>
        <p:spPr>
          <a:xfrm flipH="false" flipV="false" rot="0">
            <a:off x="15414263" y="4816535"/>
            <a:ext cx="1614725" cy="1564265"/>
          </a:xfrm>
          <a:custGeom>
            <a:avLst/>
            <a:gdLst/>
            <a:ahLst/>
            <a:cxnLst/>
            <a:rect r="r" b="b" t="t" l="l"/>
            <a:pathLst>
              <a:path h="1564265" w="1614725">
                <a:moveTo>
                  <a:pt x="0" y="0"/>
                </a:moveTo>
                <a:lnTo>
                  <a:pt x="1614725" y="0"/>
                </a:lnTo>
                <a:lnTo>
                  <a:pt x="1614725" y="1564264"/>
                </a:lnTo>
                <a:lnTo>
                  <a:pt x="0" y="1564264"/>
                </a:lnTo>
                <a:lnTo>
                  <a:pt x="0" y="0"/>
                </a:lnTo>
                <a:close/>
              </a:path>
            </a:pathLst>
          </a:custGeom>
          <a:blipFill>
            <a:blip r:embed="rId2"/>
            <a:stretch>
              <a:fillRect l="0" t="0" r="0" b="0"/>
            </a:stretch>
          </a:blipFill>
        </p:spPr>
      </p:sp>
      <p:sp>
        <p:nvSpPr>
          <p:cNvPr name="Freeform 8" id="8"/>
          <p:cNvSpPr/>
          <p:nvPr/>
        </p:nvSpPr>
        <p:spPr>
          <a:xfrm flipH="false" flipV="false" rot="2863607">
            <a:off x="4733874" y="4607450"/>
            <a:ext cx="1634622" cy="1661624"/>
          </a:xfrm>
          <a:custGeom>
            <a:avLst/>
            <a:gdLst/>
            <a:ahLst/>
            <a:cxnLst/>
            <a:rect r="r" b="b" t="t" l="l"/>
            <a:pathLst>
              <a:path h="1661624" w="1634622">
                <a:moveTo>
                  <a:pt x="0" y="0"/>
                </a:moveTo>
                <a:lnTo>
                  <a:pt x="1634622" y="0"/>
                </a:lnTo>
                <a:lnTo>
                  <a:pt x="1634622" y="1661624"/>
                </a:lnTo>
                <a:lnTo>
                  <a:pt x="0" y="1661624"/>
                </a:lnTo>
                <a:lnTo>
                  <a:pt x="0" y="0"/>
                </a:lnTo>
                <a:close/>
              </a:path>
            </a:pathLst>
          </a:custGeom>
          <a:blipFill>
            <a:blip r:embed="rId3"/>
            <a:stretch>
              <a:fillRect l="0" t="0" r="0" b="0"/>
            </a:stretch>
          </a:blipFill>
        </p:spPr>
      </p:sp>
      <p:sp>
        <p:nvSpPr>
          <p:cNvPr name="TextBox 9" id="9"/>
          <p:cNvSpPr txBox="true"/>
          <p:nvPr/>
        </p:nvSpPr>
        <p:spPr>
          <a:xfrm rot="0">
            <a:off x="3275409" y="904875"/>
            <a:ext cx="10594181"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61,292,500 / 46,067 = </a:t>
            </a:r>
            <a:r>
              <a:rPr lang="en-US" sz="4999" spc="209">
                <a:solidFill>
                  <a:srgbClr val="FF3131"/>
                </a:solidFill>
                <a:latin typeface="Times New Roman"/>
                <a:ea typeface="Times New Roman"/>
                <a:cs typeface="Times New Roman"/>
                <a:sym typeface="Times New Roman"/>
              </a:rPr>
              <a:t>1,330</a:t>
            </a:r>
            <a:r>
              <a:rPr lang="en-US" sz="4999" spc="209">
                <a:solidFill>
                  <a:srgbClr val="000000"/>
                </a:solidFill>
                <a:latin typeface="Times New Roman"/>
                <a:ea typeface="Times New Roman"/>
                <a:cs typeface="Times New Roman"/>
                <a:sym typeface="Times New Roman"/>
              </a:rPr>
              <a:t> per word</a:t>
            </a:r>
          </a:p>
        </p:txBody>
      </p:sp>
      <p:sp>
        <p:nvSpPr>
          <p:cNvPr name="TextBox 10" id="10"/>
          <p:cNvSpPr txBox="true"/>
          <p:nvPr/>
        </p:nvSpPr>
        <p:spPr>
          <a:xfrm rot="0">
            <a:off x="10842093" y="3391985"/>
            <a:ext cx="2470249"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Unstable</a:t>
            </a:r>
          </a:p>
        </p:txBody>
      </p:sp>
      <p:sp>
        <p:nvSpPr>
          <p:cNvPr name="TextBox 11" id="11"/>
          <p:cNvSpPr txBox="true"/>
          <p:nvPr/>
        </p:nvSpPr>
        <p:spPr>
          <a:xfrm rot="0">
            <a:off x="-962526" y="2949073"/>
            <a:ext cx="7156681" cy="1768477"/>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Semantically Meaningless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4274526" y="659355"/>
            <a:ext cx="8836580" cy="2684111"/>
          </a:xfrm>
          <a:custGeom>
            <a:avLst/>
            <a:gdLst/>
            <a:ahLst/>
            <a:cxnLst/>
            <a:rect r="r" b="b" t="t" l="l"/>
            <a:pathLst>
              <a:path h="2684111" w="8836580">
                <a:moveTo>
                  <a:pt x="0" y="0"/>
                </a:moveTo>
                <a:lnTo>
                  <a:pt x="8836580" y="0"/>
                </a:lnTo>
                <a:lnTo>
                  <a:pt x="8836580" y="2684111"/>
                </a:lnTo>
                <a:lnTo>
                  <a:pt x="0" y="26841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44125" y="1055259"/>
            <a:ext cx="9290839" cy="1768477"/>
          </a:xfrm>
          <a:prstGeom prst="rect">
            <a:avLst/>
          </a:prstGeom>
        </p:spPr>
        <p:txBody>
          <a:bodyPr anchor="t" rtlCol="false" tIns="0" lIns="0" bIns="0" rIns="0">
            <a:spAutoFit/>
          </a:bodyPr>
          <a:lstStyle/>
          <a:p>
            <a:pPr algn="ctr">
              <a:lnSpc>
                <a:spcPts val="6999"/>
              </a:lnSpc>
            </a:pPr>
            <a:r>
              <a:rPr lang="en-US" sz="4999" spc="209">
                <a:solidFill>
                  <a:srgbClr val="000000"/>
                </a:solidFill>
                <a:latin typeface="Times New Roman"/>
                <a:ea typeface="Times New Roman"/>
                <a:cs typeface="Times New Roman"/>
                <a:sym typeface="Times New Roman"/>
              </a:rPr>
              <a:t>Word2Vec</a:t>
            </a:r>
          </a:p>
          <a:p>
            <a:pPr algn="ctr">
              <a:lnSpc>
                <a:spcPts val="6999"/>
              </a:lnSpc>
              <a:spcBef>
                <a:spcPct val="0"/>
              </a:spcBef>
            </a:pPr>
            <a:r>
              <a:rPr lang="en-US" sz="4999" spc="209">
                <a:solidFill>
                  <a:srgbClr val="00BF63"/>
                </a:solidFill>
                <a:latin typeface="Times New Roman"/>
                <a:ea typeface="Times New Roman"/>
                <a:cs typeface="Times New Roman"/>
                <a:sym typeface="Times New Roman"/>
              </a:rPr>
              <a:t>→ Slinding Window Search</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9EA"/>
        </a:solidFill>
      </p:bgPr>
    </p:bg>
    <p:spTree>
      <p:nvGrpSpPr>
        <p:cNvPr id="1" name=""/>
        <p:cNvGrpSpPr/>
        <p:nvPr/>
      </p:nvGrpSpPr>
      <p:grpSpPr>
        <a:xfrm>
          <a:off x="0" y="0"/>
          <a:ext cx="0" cy="0"/>
          <a:chOff x="0" y="0"/>
          <a:chExt cx="0" cy="0"/>
        </a:xfrm>
      </p:grpSpPr>
      <p:sp>
        <p:nvSpPr>
          <p:cNvPr name="TextBox 2" id="2"/>
          <p:cNvSpPr txBox="true"/>
          <p:nvPr/>
        </p:nvSpPr>
        <p:spPr>
          <a:xfrm rot="0">
            <a:off x="4182752" y="612272"/>
            <a:ext cx="11742273"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Our Other Approach: Sliding Window</a:t>
            </a:r>
          </a:p>
        </p:txBody>
      </p:sp>
      <p:sp>
        <p:nvSpPr>
          <p:cNvPr name="TextBox 3" id="3"/>
          <p:cNvSpPr txBox="true"/>
          <p:nvPr/>
        </p:nvSpPr>
        <p:spPr>
          <a:xfrm rot="0">
            <a:off x="782053" y="2462045"/>
            <a:ext cx="8133619" cy="2853846"/>
          </a:xfrm>
          <a:prstGeom prst="rect">
            <a:avLst/>
          </a:prstGeom>
        </p:spPr>
        <p:txBody>
          <a:bodyPr anchor="t" rtlCol="false" tIns="0" lIns="0" bIns="0" rIns="0">
            <a:spAutoFit/>
          </a:bodyPr>
          <a:lstStyle/>
          <a:p>
            <a:pPr algn="l">
              <a:lnSpc>
                <a:spcPts val="3768"/>
              </a:lnSpc>
              <a:spcBef>
                <a:spcPct val="0"/>
              </a:spcBef>
            </a:pPr>
            <a:r>
              <a:rPr lang="en-US" sz="2691" spc="113">
                <a:solidFill>
                  <a:srgbClr val="000000"/>
                </a:solidFill>
                <a:latin typeface="Times New Roman"/>
                <a:ea typeface="Times New Roman"/>
                <a:cs typeface="Times New Roman"/>
                <a:sym typeface="Times New Roman"/>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a:t>
            </a:r>
          </a:p>
        </p:txBody>
      </p:sp>
      <p:sp>
        <p:nvSpPr>
          <p:cNvPr name="TextBox 4" id="4"/>
          <p:cNvSpPr txBox="true"/>
          <p:nvPr/>
        </p:nvSpPr>
        <p:spPr>
          <a:xfrm rot="0">
            <a:off x="9567111" y="2462045"/>
            <a:ext cx="8133619" cy="3328182"/>
          </a:xfrm>
          <a:prstGeom prst="rect">
            <a:avLst/>
          </a:prstGeom>
        </p:spPr>
        <p:txBody>
          <a:bodyPr anchor="t" rtlCol="false" tIns="0" lIns="0" bIns="0" rIns="0">
            <a:spAutoFit/>
          </a:bodyPr>
          <a:lstStyle/>
          <a:p>
            <a:pPr algn="l">
              <a:lnSpc>
                <a:spcPts val="3768"/>
              </a:lnSpc>
              <a:spcBef>
                <a:spcPct val="0"/>
              </a:spcBef>
            </a:pPr>
            <a:r>
              <a:rPr lang="en-US" sz="2691" spc="113">
                <a:solidFill>
                  <a:srgbClr val="000000"/>
                </a:solidFill>
                <a:latin typeface="Times New Roman"/>
                <a:ea typeface="Times New Roman"/>
                <a:cs typeface="Times New Roman"/>
                <a:sym typeface="Times New Roman"/>
              </a:rPr>
              <a:t>Ut enim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a:t>
            </a:r>
          </a:p>
        </p:txBody>
      </p:sp>
      <p:grpSp>
        <p:nvGrpSpPr>
          <p:cNvPr name="Group 5" id="5"/>
          <p:cNvGrpSpPr/>
          <p:nvPr/>
        </p:nvGrpSpPr>
        <p:grpSpPr>
          <a:xfrm rot="0">
            <a:off x="782053" y="2538245"/>
            <a:ext cx="3609474" cy="484271"/>
            <a:chOff x="0" y="0"/>
            <a:chExt cx="950643" cy="127545"/>
          </a:xfrm>
        </p:grpSpPr>
        <p:sp>
          <p:nvSpPr>
            <p:cNvPr name="Freeform 6" id="6"/>
            <p:cNvSpPr/>
            <p:nvPr/>
          </p:nvSpPr>
          <p:spPr>
            <a:xfrm flipH="false" flipV="false" rot="0">
              <a:off x="0" y="0"/>
              <a:ext cx="950643" cy="127545"/>
            </a:xfrm>
            <a:custGeom>
              <a:avLst/>
              <a:gdLst/>
              <a:ahLst/>
              <a:cxnLst/>
              <a:rect r="r" b="b" t="t" l="l"/>
              <a:pathLst>
                <a:path h="127545" w="950643">
                  <a:moveTo>
                    <a:pt x="36463" y="0"/>
                  </a:moveTo>
                  <a:lnTo>
                    <a:pt x="914180" y="0"/>
                  </a:lnTo>
                  <a:cubicBezTo>
                    <a:pt x="934318" y="0"/>
                    <a:pt x="950643" y="16325"/>
                    <a:pt x="950643" y="36463"/>
                  </a:cubicBezTo>
                  <a:lnTo>
                    <a:pt x="950643" y="91082"/>
                  </a:lnTo>
                  <a:cubicBezTo>
                    <a:pt x="950643" y="100752"/>
                    <a:pt x="946802" y="110027"/>
                    <a:pt x="939963" y="116865"/>
                  </a:cubicBezTo>
                  <a:cubicBezTo>
                    <a:pt x="933125" y="123703"/>
                    <a:pt x="923851" y="127545"/>
                    <a:pt x="914180" y="127545"/>
                  </a:cubicBezTo>
                  <a:lnTo>
                    <a:pt x="36463" y="127545"/>
                  </a:lnTo>
                  <a:cubicBezTo>
                    <a:pt x="16325" y="127545"/>
                    <a:pt x="0" y="111220"/>
                    <a:pt x="0" y="91082"/>
                  </a:cubicBezTo>
                  <a:lnTo>
                    <a:pt x="0" y="36463"/>
                  </a:lnTo>
                  <a:cubicBezTo>
                    <a:pt x="0" y="26792"/>
                    <a:pt x="3842" y="17518"/>
                    <a:pt x="10680" y="10680"/>
                  </a:cubicBezTo>
                  <a:cubicBezTo>
                    <a:pt x="17518" y="3842"/>
                    <a:pt x="26792" y="0"/>
                    <a:pt x="36463" y="0"/>
                  </a:cubicBezTo>
                  <a:close/>
                </a:path>
              </a:pathLst>
            </a:custGeom>
            <a:solidFill>
              <a:srgbClr val="FF3131">
                <a:alpha val="48627"/>
              </a:srgbClr>
            </a:solidFill>
          </p:spPr>
        </p:sp>
        <p:sp>
          <p:nvSpPr>
            <p:cNvPr name="TextBox 7" id="7"/>
            <p:cNvSpPr txBox="true"/>
            <p:nvPr/>
          </p:nvSpPr>
          <p:spPr>
            <a:xfrm>
              <a:off x="0" y="-47625"/>
              <a:ext cx="950643" cy="175170"/>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9461834" y="2538245"/>
            <a:ext cx="3525389" cy="484271"/>
            <a:chOff x="0" y="0"/>
            <a:chExt cx="928497" cy="127545"/>
          </a:xfrm>
        </p:grpSpPr>
        <p:sp>
          <p:nvSpPr>
            <p:cNvPr name="Freeform 9" id="9"/>
            <p:cNvSpPr/>
            <p:nvPr/>
          </p:nvSpPr>
          <p:spPr>
            <a:xfrm flipH="false" flipV="false" rot="0">
              <a:off x="0" y="0"/>
              <a:ext cx="928497" cy="127545"/>
            </a:xfrm>
            <a:custGeom>
              <a:avLst/>
              <a:gdLst/>
              <a:ahLst/>
              <a:cxnLst/>
              <a:rect r="r" b="b" t="t" l="l"/>
              <a:pathLst>
                <a:path h="127545" w="928497">
                  <a:moveTo>
                    <a:pt x="37333" y="0"/>
                  </a:moveTo>
                  <a:lnTo>
                    <a:pt x="891165" y="0"/>
                  </a:lnTo>
                  <a:cubicBezTo>
                    <a:pt x="901066" y="0"/>
                    <a:pt x="910562" y="3933"/>
                    <a:pt x="917563" y="10935"/>
                  </a:cubicBezTo>
                  <a:cubicBezTo>
                    <a:pt x="924564" y="17936"/>
                    <a:pt x="928497" y="27432"/>
                    <a:pt x="928497" y="37333"/>
                  </a:cubicBezTo>
                  <a:lnTo>
                    <a:pt x="928497" y="90212"/>
                  </a:lnTo>
                  <a:cubicBezTo>
                    <a:pt x="928497" y="110830"/>
                    <a:pt x="911783" y="127545"/>
                    <a:pt x="891165" y="127545"/>
                  </a:cubicBezTo>
                  <a:lnTo>
                    <a:pt x="37333" y="127545"/>
                  </a:lnTo>
                  <a:cubicBezTo>
                    <a:pt x="16714" y="127545"/>
                    <a:pt x="0" y="110830"/>
                    <a:pt x="0" y="90212"/>
                  </a:cubicBezTo>
                  <a:lnTo>
                    <a:pt x="0" y="37333"/>
                  </a:lnTo>
                  <a:cubicBezTo>
                    <a:pt x="0" y="16714"/>
                    <a:pt x="16714" y="0"/>
                    <a:pt x="37333" y="0"/>
                  </a:cubicBezTo>
                  <a:close/>
                </a:path>
              </a:pathLst>
            </a:custGeom>
            <a:solidFill>
              <a:srgbClr val="FF3131">
                <a:alpha val="48627"/>
              </a:srgbClr>
            </a:solidFill>
          </p:spPr>
        </p:sp>
        <p:sp>
          <p:nvSpPr>
            <p:cNvPr name="TextBox 10" id="10"/>
            <p:cNvSpPr txBox="true"/>
            <p:nvPr/>
          </p:nvSpPr>
          <p:spPr>
            <a:xfrm>
              <a:off x="0" y="-47625"/>
              <a:ext cx="928497" cy="175170"/>
            </a:xfrm>
            <a:prstGeom prst="rect">
              <a:avLst/>
            </a:prstGeom>
          </p:spPr>
          <p:txBody>
            <a:bodyPr anchor="ctr" rtlCol="false" tIns="50800" lIns="50800" bIns="50800" rIns="50800"/>
            <a:lstStyle/>
            <a:p>
              <a:pPr algn="ctr">
                <a:lnSpc>
                  <a:spcPts val="3500"/>
                </a:lnSpc>
              </a:pPr>
            </a:p>
          </p:txBody>
        </p:sp>
      </p:grpSp>
      <p:sp>
        <p:nvSpPr>
          <p:cNvPr name="TextBox 11" id="11"/>
          <p:cNvSpPr txBox="true"/>
          <p:nvPr/>
        </p:nvSpPr>
        <p:spPr>
          <a:xfrm rot="0">
            <a:off x="925345" y="6763334"/>
            <a:ext cx="16433006" cy="712471"/>
          </a:xfrm>
          <a:prstGeom prst="rect">
            <a:avLst/>
          </a:prstGeom>
        </p:spPr>
        <p:txBody>
          <a:bodyPr anchor="t" rtlCol="false" tIns="0" lIns="0" bIns="0" rIns="0">
            <a:spAutoFit/>
          </a:bodyPr>
          <a:lstStyle/>
          <a:p>
            <a:pPr algn="ctr">
              <a:lnSpc>
                <a:spcPts val="5879"/>
              </a:lnSpc>
              <a:spcBef>
                <a:spcPct val="0"/>
              </a:spcBef>
            </a:pPr>
            <a:r>
              <a:rPr lang="en-US" sz="4199" spc="176">
                <a:solidFill>
                  <a:srgbClr val="00BF63"/>
                </a:solidFill>
                <a:latin typeface="Fira Code"/>
                <a:ea typeface="Fira Code"/>
                <a:cs typeface="Fira Code"/>
                <a:sym typeface="Fira Code"/>
              </a:rPr>
              <a:t>“Lorem ipsum dolor sit” </a:t>
            </a:r>
            <a:r>
              <a:rPr lang="en-US" sz="4199" spc="176">
                <a:solidFill>
                  <a:srgbClr val="000000"/>
                </a:solidFill>
                <a:latin typeface="Fira Code"/>
                <a:ea typeface="Fira Code"/>
                <a:cs typeface="Fira Code"/>
                <a:sym typeface="Fira Code"/>
              </a:rPr>
              <a:t>!= </a:t>
            </a:r>
            <a:r>
              <a:rPr lang="en-US" sz="4199" spc="176">
                <a:solidFill>
                  <a:srgbClr val="FF3131"/>
                </a:solidFill>
                <a:latin typeface="Fira Code"/>
                <a:ea typeface="Fira Code"/>
                <a:cs typeface="Fira Code"/>
                <a:sym typeface="Fira Code"/>
              </a:rPr>
              <a:t>“Ut enim Lorem ipsum”</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9EA"/>
        </a:solidFill>
      </p:bgPr>
    </p:bg>
    <p:spTree>
      <p:nvGrpSpPr>
        <p:cNvPr id="1" name=""/>
        <p:cNvGrpSpPr/>
        <p:nvPr/>
      </p:nvGrpSpPr>
      <p:grpSpPr>
        <a:xfrm>
          <a:off x="0" y="0"/>
          <a:ext cx="0" cy="0"/>
          <a:chOff x="0" y="0"/>
          <a:chExt cx="0" cy="0"/>
        </a:xfrm>
      </p:grpSpPr>
      <p:sp>
        <p:nvSpPr>
          <p:cNvPr name="TextBox 2" id="2"/>
          <p:cNvSpPr txBox="true"/>
          <p:nvPr/>
        </p:nvSpPr>
        <p:spPr>
          <a:xfrm rot="0">
            <a:off x="4182752" y="612272"/>
            <a:ext cx="11742273"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Our Other Approach: Sliding Window</a:t>
            </a:r>
          </a:p>
        </p:txBody>
      </p:sp>
      <p:sp>
        <p:nvSpPr>
          <p:cNvPr name="TextBox 3" id="3"/>
          <p:cNvSpPr txBox="true"/>
          <p:nvPr/>
        </p:nvSpPr>
        <p:spPr>
          <a:xfrm rot="0">
            <a:off x="782053" y="2462045"/>
            <a:ext cx="8133619" cy="2853846"/>
          </a:xfrm>
          <a:prstGeom prst="rect">
            <a:avLst/>
          </a:prstGeom>
        </p:spPr>
        <p:txBody>
          <a:bodyPr anchor="t" rtlCol="false" tIns="0" lIns="0" bIns="0" rIns="0">
            <a:spAutoFit/>
          </a:bodyPr>
          <a:lstStyle/>
          <a:p>
            <a:pPr algn="l">
              <a:lnSpc>
                <a:spcPts val="3768"/>
              </a:lnSpc>
              <a:spcBef>
                <a:spcPct val="0"/>
              </a:spcBef>
            </a:pPr>
            <a:r>
              <a:rPr lang="en-US" sz="2691" spc="113">
                <a:solidFill>
                  <a:srgbClr val="000000"/>
                </a:solidFill>
                <a:latin typeface="Times New Roman"/>
                <a:ea typeface="Times New Roman"/>
                <a:cs typeface="Times New Roman"/>
                <a:sym typeface="Times New Roman"/>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a:t>
            </a:r>
          </a:p>
        </p:txBody>
      </p:sp>
      <p:sp>
        <p:nvSpPr>
          <p:cNvPr name="TextBox 4" id="4"/>
          <p:cNvSpPr txBox="true"/>
          <p:nvPr/>
        </p:nvSpPr>
        <p:spPr>
          <a:xfrm rot="0">
            <a:off x="9567111" y="2462045"/>
            <a:ext cx="8133619" cy="3328182"/>
          </a:xfrm>
          <a:prstGeom prst="rect">
            <a:avLst/>
          </a:prstGeom>
        </p:spPr>
        <p:txBody>
          <a:bodyPr anchor="t" rtlCol="false" tIns="0" lIns="0" bIns="0" rIns="0">
            <a:spAutoFit/>
          </a:bodyPr>
          <a:lstStyle/>
          <a:p>
            <a:pPr algn="l">
              <a:lnSpc>
                <a:spcPts val="3768"/>
              </a:lnSpc>
              <a:spcBef>
                <a:spcPct val="0"/>
              </a:spcBef>
            </a:pPr>
            <a:r>
              <a:rPr lang="en-US" sz="2691" spc="113">
                <a:solidFill>
                  <a:srgbClr val="000000"/>
                </a:solidFill>
                <a:latin typeface="Times New Roman"/>
                <a:ea typeface="Times New Roman"/>
                <a:cs typeface="Times New Roman"/>
                <a:sym typeface="Times New Roman"/>
              </a:rPr>
              <a:t>Ut enim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a:t>
            </a:r>
          </a:p>
        </p:txBody>
      </p:sp>
      <p:grpSp>
        <p:nvGrpSpPr>
          <p:cNvPr name="Group 5" id="5"/>
          <p:cNvGrpSpPr/>
          <p:nvPr/>
        </p:nvGrpSpPr>
        <p:grpSpPr>
          <a:xfrm rot="0">
            <a:off x="782053" y="2538245"/>
            <a:ext cx="3609474" cy="484271"/>
            <a:chOff x="0" y="0"/>
            <a:chExt cx="950643" cy="127545"/>
          </a:xfrm>
        </p:grpSpPr>
        <p:sp>
          <p:nvSpPr>
            <p:cNvPr name="Freeform 6" id="6"/>
            <p:cNvSpPr/>
            <p:nvPr/>
          </p:nvSpPr>
          <p:spPr>
            <a:xfrm flipH="false" flipV="false" rot="0">
              <a:off x="0" y="0"/>
              <a:ext cx="950643" cy="127545"/>
            </a:xfrm>
            <a:custGeom>
              <a:avLst/>
              <a:gdLst/>
              <a:ahLst/>
              <a:cxnLst/>
              <a:rect r="r" b="b" t="t" l="l"/>
              <a:pathLst>
                <a:path h="127545" w="950643">
                  <a:moveTo>
                    <a:pt x="36463" y="0"/>
                  </a:moveTo>
                  <a:lnTo>
                    <a:pt x="914180" y="0"/>
                  </a:lnTo>
                  <a:cubicBezTo>
                    <a:pt x="934318" y="0"/>
                    <a:pt x="950643" y="16325"/>
                    <a:pt x="950643" y="36463"/>
                  </a:cubicBezTo>
                  <a:lnTo>
                    <a:pt x="950643" y="91082"/>
                  </a:lnTo>
                  <a:cubicBezTo>
                    <a:pt x="950643" y="100752"/>
                    <a:pt x="946802" y="110027"/>
                    <a:pt x="939963" y="116865"/>
                  </a:cubicBezTo>
                  <a:cubicBezTo>
                    <a:pt x="933125" y="123703"/>
                    <a:pt x="923851" y="127545"/>
                    <a:pt x="914180" y="127545"/>
                  </a:cubicBezTo>
                  <a:lnTo>
                    <a:pt x="36463" y="127545"/>
                  </a:lnTo>
                  <a:cubicBezTo>
                    <a:pt x="16325" y="127545"/>
                    <a:pt x="0" y="111220"/>
                    <a:pt x="0" y="91082"/>
                  </a:cubicBezTo>
                  <a:lnTo>
                    <a:pt x="0" y="36463"/>
                  </a:lnTo>
                  <a:cubicBezTo>
                    <a:pt x="0" y="26792"/>
                    <a:pt x="3842" y="17518"/>
                    <a:pt x="10680" y="10680"/>
                  </a:cubicBezTo>
                  <a:cubicBezTo>
                    <a:pt x="17518" y="3842"/>
                    <a:pt x="26792" y="0"/>
                    <a:pt x="36463" y="0"/>
                  </a:cubicBezTo>
                  <a:close/>
                </a:path>
              </a:pathLst>
            </a:custGeom>
            <a:solidFill>
              <a:srgbClr val="FF3131">
                <a:alpha val="48627"/>
              </a:srgbClr>
            </a:solidFill>
          </p:spPr>
        </p:sp>
        <p:sp>
          <p:nvSpPr>
            <p:cNvPr name="TextBox 7" id="7"/>
            <p:cNvSpPr txBox="true"/>
            <p:nvPr/>
          </p:nvSpPr>
          <p:spPr>
            <a:xfrm>
              <a:off x="0" y="-47625"/>
              <a:ext cx="950643" cy="175170"/>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0053888" y="2538245"/>
            <a:ext cx="3811139" cy="484271"/>
            <a:chOff x="0" y="0"/>
            <a:chExt cx="1003757" cy="127545"/>
          </a:xfrm>
        </p:grpSpPr>
        <p:sp>
          <p:nvSpPr>
            <p:cNvPr name="Freeform 9" id="9"/>
            <p:cNvSpPr/>
            <p:nvPr/>
          </p:nvSpPr>
          <p:spPr>
            <a:xfrm flipH="false" flipV="false" rot="0">
              <a:off x="0" y="0"/>
              <a:ext cx="1003757" cy="127545"/>
            </a:xfrm>
            <a:custGeom>
              <a:avLst/>
              <a:gdLst/>
              <a:ahLst/>
              <a:cxnLst/>
              <a:rect r="r" b="b" t="t" l="l"/>
              <a:pathLst>
                <a:path h="127545" w="1003757">
                  <a:moveTo>
                    <a:pt x="34534" y="0"/>
                  </a:moveTo>
                  <a:lnTo>
                    <a:pt x="969223" y="0"/>
                  </a:lnTo>
                  <a:cubicBezTo>
                    <a:pt x="978382" y="0"/>
                    <a:pt x="987166" y="3638"/>
                    <a:pt x="993642" y="10115"/>
                  </a:cubicBezTo>
                  <a:cubicBezTo>
                    <a:pt x="1000118" y="16591"/>
                    <a:pt x="1003757" y="25375"/>
                    <a:pt x="1003757" y="34534"/>
                  </a:cubicBezTo>
                  <a:lnTo>
                    <a:pt x="1003757" y="93011"/>
                  </a:lnTo>
                  <a:cubicBezTo>
                    <a:pt x="1003757" y="112083"/>
                    <a:pt x="988295" y="127545"/>
                    <a:pt x="969223" y="127545"/>
                  </a:cubicBezTo>
                  <a:lnTo>
                    <a:pt x="34534" y="127545"/>
                  </a:lnTo>
                  <a:cubicBezTo>
                    <a:pt x="15461" y="127545"/>
                    <a:pt x="0" y="112083"/>
                    <a:pt x="0" y="93011"/>
                  </a:cubicBezTo>
                  <a:lnTo>
                    <a:pt x="0" y="34534"/>
                  </a:lnTo>
                  <a:cubicBezTo>
                    <a:pt x="0" y="15461"/>
                    <a:pt x="15461" y="0"/>
                    <a:pt x="34534" y="0"/>
                  </a:cubicBezTo>
                  <a:close/>
                </a:path>
              </a:pathLst>
            </a:custGeom>
            <a:solidFill>
              <a:srgbClr val="FF3131">
                <a:alpha val="48627"/>
              </a:srgbClr>
            </a:solidFill>
          </p:spPr>
        </p:sp>
        <p:sp>
          <p:nvSpPr>
            <p:cNvPr name="TextBox 10" id="10"/>
            <p:cNvSpPr txBox="true"/>
            <p:nvPr/>
          </p:nvSpPr>
          <p:spPr>
            <a:xfrm>
              <a:off x="0" y="-47625"/>
              <a:ext cx="1003757" cy="175170"/>
            </a:xfrm>
            <a:prstGeom prst="rect">
              <a:avLst/>
            </a:prstGeom>
          </p:spPr>
          <p:txBody>
            <a:bodyPr anchor="ctr" rtlCol="false" tIns="50800" lIns="50800" bIns="50800" rIns="50800"/>
            <a:lstStyle/>
            <a:p>
              <a:pPr algn="ctr">
                <a:lnSpc>
                  <a:spcPts val="3500"/>
                </a:lnSpc>
              </a:pPr>
            </a:p>
          </p:txBody>
        </p:sp>
      </p:grpSp>
      <p:sp>
        <p:nvSpPr>
          <p:cNvPr name="TextBox 11" id="11"/>
          <p:cNvSpPr txBox="true"/>
          <p:nvPr/>
        </p:nvSpPr>
        <p:spPr>
          <a:xfrm rot="0">
            <a:off x="411813" y="6763334"/>
            <a:ext cx="17460069" cy="712471"/>
          </a:xfrm>
          <a:prstGeom prst="rect">
            <a:avLst/>
          </a:prstGeom>
        </p:spPr>
        <p:txBody>
          <a:bodyPr anchor="t" rtlCol="false" tIns="0" lIns="0" bIns="0" rIns="0">
            <a:spAutoFit/>
          </a:bodyPr>
          <a:lstStyle/>
          <a:p>
            <a:pPr algn="ctr">
              <a:lnSpc>
                <a:spcPts val="5879"/>
              </a:lnSpc>
              <a:spcBef>
                <a:spcPct val="0"/>
              </a:spcBef>
            </a:pPr>
            <a:r>
              <a:rPr lang="en-US" sz="4199" spc="176">
                <a:solidFill>
                  <a:srgbClr val="00BF63"/>
                </a:solidFill>
                <a:latin typeface="Fira Code"/>
                <a:ea typeface="Fira Code"/>
                <a:cs typeface="Fira Code"/>
                <a:sym typeface="Fira Code"/>
              </a:rPr>
              <a:t>“Lorem ipsum dolor sit” </a:t>
            </a:r>
            <a:r>
              <a:rPr lang="en-US" sz="4199" spc="176">
                <a:solidFill>
                  <a:srgbClr val="000000"/>
                </a:solidFill>
                <a:latin typeface="Fira Code"/>
                <a:ea typeface="Fira Code"/>
                <a:cs typeface="Fira Code"/>
                <a:sym typeface="Fira Code"/>
              </a:rPr>
              <a:t>!= </a:t>
            </a:r>
            <a:r>
              <a:rPr lang="en-US" sz="4199" spc="176">
                <a:solidFill>
                  <a:srgbClr val="FF3131"/>
                </a:solidFill>
                <a:latin typeface="Fira Code"/>
                <a:ea typeface="Fira Code"/>
                <a:cs typeface="Fira Code"/>
                <a:sym typeface="Fira Code"/>
              </a:rPr>
              <a:t>“enim Lorem ipsum dolor”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sp>
        <p:nvSpPr>
          <p:cNvPr name="TextBox 2" id="2"/>
          <p:cNvSpPr txBox="true"/>
          <p:nvPr/>
        </p:nvSpPr>
        <p:spPr>
          <a:xfrm rot="0">
            <a:off x="782053" y="2462045"/>
            <a:ext cx="8133619" cy="2853846"/>
          </a:xfrm>
          <a:prstGeom prst="rect">
            <a:avLst/>
          </a:prstGeom>
        </p:spPr>
        <p:txBody>
          <a:bodyPr anchor="t" rtlCol="false" tIns="0" lIns="0" bIns="0" rIns="0">
            <a:spAutoFit/>
          </a:bodyPr>
          <a:lstStyle/>
          <a:p>
            <a:pPr algn="l">
              <a:lnSpc>
                <a:spcPts val="3768"/>
              </a:lnSpc>
              <a:spcBef>
                <a:spcPct val="0"/>
              </a:spcBef>
            </a:pPr>
            <a:r>
              <a:rPr lang="en-US" sz="2691" spc="113">
                <a:solidFill>
                  <a:srgbClr val="000000"/>
                </a:solidFill>
                <a:latin typeface="Times New Roman"/>
                <a:ea typeface="Times New Roman"/>
                <a:cs typeface="Times New Roman"/>
                <a:sym typeface="Times New Roman"/>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a:t>
            </a:r>
          </a:p>
        </p:txBody>
      </p:sp>
      <p:sp>
        <p:nvSpPr>
          <p:cNvPr name="TextBox 3" id="3"/>
          <p:cNvSpPr txBox="true"/>
          <p:nvPr/>
        </p:nvSpPr>
        <p:spPr>
          <a:xfrm rot="0">
            <a:off x="9567111" y="2462045"/>
            <a:ext cx="8133619" cy="3328182"/>
          </a:xfrm>
          <a:prstGeom prst="rect">
            <a:avLst/>
          </a:prstGeom>
        </p:spPr>
        <p:txBody>
          <a:bodyPr anchor="t" rtlCol="false" tIns="0" lIns="0" bIns="0" rIns="0">
            <a:spAutoFit/>
          </a:bodyPr>
          <a:lstStyle/>
          <a:p>
            <a:pPr algn="l">
              <a:lnSpc>
                <a:spcPts val="3768"/>
              </a:lnSpc>
              <a:spcBef>
                <a:spcPct val="0"/>
              </a:spcBef>
            </a:pPr>
            <a:r>
              <a:rPr lang="en-US" sz="2691" spc="113">
                <a:solidFill>
                  <a:srgbClr val="000000"/>
                </a:solidFill>
                <a:latin typeface="Times New Roman"/>
                <a:ea typeface="Times New Roman"/>
                <a:cs typeface="Times New Roman"/>
                <a:sym typeface="Times New Roman"/>
              </a:rPr>
              <a:t>Ut enim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a:t>
            </a:r>
          </a:p>
        </p:txBody>
      </p:sp>
      <p:grpSp>
        <p:nvGrpSpPr>
          <p:cNvPr name="Group 4" id="4"/>
          <p:cNvGrpSpPr/>
          <p:nvPr/>
        </p:nvGrpSpPr>
        <p:grpSpPr>
          <a:xfrm rot="0">
            <a:off x="782053" y="2538245"/>
            <a:ext cx="3609474" cy="484271"/>
            <a:chOff x="0" y="0"/>
            <a:chExt cx="950643" cy="127545"/>
          </a:xfrm>
        </p:grpSpPr>
        <p:sp>
          <p:nvSpPr>
            <p:cNvPr name="Freeform 5" id="5"/>
            <p:cNvSpPr/>
            <p:nvPr/>
          </p:nvSpPr>
          <p:spPr>
            <a:xfrm flipH="false" flipV="false" rot="0">
              <a:off x="0" y="0"/>
              <a:ext cx="950643" cy="127545"/>
            </a:xfrm>
            <a:custGeom>
              <a:avLst/>
              <a:gdLst/>
              <a:ahLst/>
              <a:cxnLst/>
              <a:rect r="r" b="b" t="t" l="l"/>
              <a:pathLst>
                <a:path h="127545" w="950643">
                  <a:moveTo>
                    <a:pt x="36463" y="0"/>
                  </a:moveTo>
                  <a:lnTo>
                    <a:pt x="914180" y="0"/>
                  </a:lnTo>
                  <a:cubicBezTo>
                    <a:pt x="934318" y="0"/>
                    <a:pt x="950643" y="16325"/>
                    <a:pt x="950643" y="36463"/>
                  </a:cubicBezTo>
                  <a:lnTo>
                    <a:pt x="950643" y="91082"/>
                  </a:lnTo>
                  <a:cubicBezTo>
                    <a:pt x="950643" y="100752"/>
                    <a:pt x="946802" y="110027"/>
                    <a:pt x="939963" y="116865"/>
                  </a:cubicBezTo>
                  <a:cubicBezTo>
                    <a:pt x="933125" y="123703"/>
                    <a:pt x="923851" y="127545"/>
                    <a:pt x="914180" y="127545"/>
                  </a:cubicBezTo>
                  <a:lnTo>
                    <a:pt x="36463" y="127545"/>
                  </a:lnTo>
                  <a:cubicBezTo>
                    <a:pt x="16325" y="127545"/>
                    <a:pt x="0" y="111220"/>
                    <a:pt x="0" y="91082"/>
                  </a:cubicBezTo>
                  <a:lnTo>
                    <a:pt x="0" y="36463"/>
                  </a:lnTo>
                  <a:cubicBezTo>
                    <a:pt x="0" y="26792"/>
                    <a:pt x="3842" y="17518"/>
                    <a:pt x="10680" y="10680"/>
                  </a:cubicBezTo>
                  <a:cubicBezTo>
                    <a:pt x="17518" y="3842"/>
                    <a:pt x="26792" y="0"/>
                    <a:pt x="36463" y="0"/>
                  </a:cubicBezTo>
                  <a:close/>
                </a:path>
              </a:pathLst>
            </a:custGeom>
            <a:solidFill>
              <a:srgbClr val="FF3131">
                <a:alpha val="48627"/>
              </a:srgbClr>
            </a:solidFill>
          </p:spPr>
        </p:sp>
        <p:sp>
          <p:nvSpPr>
            <p:cNvPr name="TextBox 6" id="6"/>
            <p:cNvSpPr txBox="true"/>
            <p:nvPr/>
          </p:nvSpPr>
          <p:spPr>
            <a:xfrm>
              <a:off x="0" y="-47625"/>
              <a:ext cx="950643" cy="175170"/>
            </a:xfrm>
            <a:prstGeom prst="rect">
              <a:avLst/>
            </a:prstGeom>
          </p:spPr>
          <p:txBody>
            <a:bodyPr anchor="ctr" rtlCol="false" tIns="50800" lIns="50800" bIns="50800" rIns="50800"/>
            <a:lstStyle/>
            <a:p>
              <a:pPr algn="ctr">
                <a:lnSpc>
                  <a:spcPts val="3500"/>
                </a:lnSpc>
              </a:pPr>
            </a:p>
          </p:txBody>
        </p:sp>
      </p:grpSp>
      <p:grpSp>
        <p:nvGrpSpPr>
          <p:cNvPr name="Group 7" id="7"/>
          <p:cNvGrpSpPr/>
          <p:nvPr/>
        </p:nvGrpSpPr>
        <p:grpSpPr>
          <a:xfrm rot="0">
            <a:off x="10790822" y="2538245"/>
            <a:ext cx="3510349" cy="484271"/>
            <a:chOff x="0" y="0"/>
            <a:chExt cx="924536" cy="127545"/>
          </a:xfrm>
        </p:grpSpPr>
        <p:sp>
          <p:nvSpPr>
            <p:cNvPr name="Freeform 8" id="8"/>
            <p:cNvSpPr/>
            <p:nvPr/>
          </p:nvSpPr>
          <p:spPr>
            <a:xfrm flipH="false" flipV="false" rot="0">
              <a:off x="0" y="0"/>
              <a:ext cx="924536" cy="127545"/>
            </a:xfrm>
            <a:custGeom>
              <a:avLst/>
              <a:gdLst/>
              <a:ahLst/>
              <a:cxnLst/>
              <a:rect r="r" b="b" t="t" l="l"/>
              <a:pathLst>
                <a:path h="127545" w="924536">
                  <a:moveTo>
                    <a:pt x="37493" y="0"/>
                  </a:moveTo>
                  <a:lnTo>
                    <a:pt x="887044" y="0"/>
                  </a:lnTo>
                  <a:cubicBezTo>
                    <a:pt x="907750" y="0"/>
                    <a:pt x="924536" y="16786"/>
                    <a:pt x="924536" y="37493"/>
                  </a:cubicBezTo>
                  <a:lnTo>
                    <a:pt x="924536" y="90052"/>
                  </a:lnTo>
                  <a:cubicBezTo>
                    <a:pt x="924536" y="99996"/>
                    <a:pt x="920586" y="109532"/>
                    <a:pt x="913555" y="116563"/>
                  </a:cubicBezTo>
                  <a:cubicBezTo>
                    <a:pt x="906524" y="123595"/>
                    <a:pt x="896987" y="127545"/>
                    <a:pt x="887044" y="127545"/>
                  </a:cubicBezTo>
                  <a:lnTo>
                    <a:pt x="37493" y="127545"/>
                  </a:lnTo>
                  <a:cubicBezTo>
                    <a:pt x="16786" y="127545"/>
                    <a:pt x="0" y="110759"/>
                    <a:pt x="0" y="90052"/>
                  </a:cubicBezTo>
                  <a:lnTo>
                    <a:pt x="0" y="37493"/>
                  </a:lnTo>
                  <a:cubicBezTo>
                    <a:pt x="0" y="16786"/>
                    <a:pt x="16786" y="0"/>
                    <a:pt x="37493" y="0"/>
                  </a:cubicBezTo>
                  <a:close/>
                </a:path>
              </a:pathLst>
            </a:custGeom>
            <a:solidFill>
              <a:srgbClr val="FF3131">
                <a:alpha val="48627"/>
              </a:srgbClr>
            </a:solidFill>
          </p:spPr>
        </p:sp>
        <p:sp>
          <p:nvSpPr>
            <p:cNvPr name="TextBox 9" id="9"/>
            <p:cNvSpPr txBox="true"/>
            <p:nvPr/>
          </p:nvSpPr>
          <p:spPr>
            <a:xfrm>
              <a:off x="0" y="-47625"/>
              <a:ext cx="924536" cy="175170"/>
            </a:xfrm>
            <a:prstGeom prst="rect">
              <a:avLst/>
            </a:prstGeom>
          </p:spPr>
          <p:txBody>
            <a:bodyPr anchor="ctr" rtlCol="false" tIns="50800" lIns="50800" bIns="50800" rIns="50800"/>
            <a:lstStyle/>
            <a:p>
              <a:pPr algn="ctr">
                <a:lnSpc>
                  <a:spcPts val="3500"/>
                </a:lnSpc>
              </a:pPr>
            </a:p>
          </p:txBody>
        </p:sp>
      </p:grpSp>
      <p:sp>
        <p:nvSpPr>
          <p:cNvPr name="Freeform 10" id="10"/>
          <p:cNvSpPr/>
          <p:nvPr/>
        </p:nvSpPr>
        <p:spPr>
          <a:xfrm flipH="false" flipV="false" rot="0">
            <a:off x="1028700" y="7888652"/>
            <a:ext cx="2071481" cy="2103026"/>
          </a:xfrm>
          <a:custGeom>
            <a:avLst/>
            <a:gdLst/>
            <a:ahLst/>
            <a:cxnLst/>
            <a:rect r="r" b="b" t="t" l="l"/>
            <a:pathLst>
              <a:path h="2103026" w="2071481">
                <a:moveTo>
                  <a:pt x="0" y="0"/>
                </a:moveTo>
                <a:lnTo>
                  <a:pt x="2071481" y="0"/>
                </a:lnTo>
                <a:lnTo>
                  <a:pt x="2071481" y="2103026"/>
                </a:lnTo>
                <a:lnTo>
                  <a:pt x="0" y="2103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10800000">
            <a:off x="3489653" y="8413991"/>
            <a:ext cx="2893956" cy="526174"/>
          </a:xfrm>
          <a:custGeom>
            <a:avLst/>
            <a:gdLst/>
            <a:ahLst/>
            <a:cxnLst/>
            <a:rect r="r" b="b" t="t" l="l"/>
            <a:pathLst>
              <a:path h="526174" w="2893956">
                <a:moveTo>
                  <a:pt x="0" y="0"/>
                </a:moveTo>
                <a:lnTo>
                  <a:pt x="2893955" y="0"/>
                </a:lnTo>
                <a:lnTo>
                  <a:pt x="2893955" y="526174"/>
                </a:lnTo>
                <a:lnTo>
                  <a:pt x="0" y="5261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2185501" y="437495"/>
            <a:ext cx="742986" cy="3669065"/>
          </a:xfrm>
          <a:custGeom>
            <a:avLst/>
            <a:gdLst/>
            <a:ahLst/>
            <a:cxnLst/>
            <a:rect r="r" b="b" t="t" l="l"/>
            <a:pathLst>
              <a:path h="3669065" w="742986">
                <a:moveTo>
                  <a:pt x="0" y="0"/>
                </a:moveTo>
                <a:lnTo>
                  <a:pt x="742985" y="0"/>
                </a:lnTo>
                <a:lnTo>
                  <a:pt x="742985" y="3669066"/>
                </a:lnTo>
                <a:lnTo>
                  <a:pt x="0" y="36690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647579" y="2000206"/>
            <a:ext cx="286487" cy="891788"/>
          </a:xfrm>
          <a:custGeom>
            <a:avLst/>
            <a:gdLst/>
            <a:ahLst/>
            <a:cxnLst/>
            <a:rect r="r" b="b" t="t" l="l"/>
            <a:pathLst>
              <a:path h="891788" w="286487">
                <a:moveTo>
                  <a:pt x="0" y="0"/>
                </a:moveTo>
                <a:lnTo>
                  <a:pt x="286487" y="0"/>
                </a:lnTo>
                <a:lnTo>
                  <a:pt x="286487" y="891787"/>
                </a:lnTo>
                <a:lnTo>
                  <a:pt x="0" y="8917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4182752" y="612272"/>
            <a:ext cx="11742273"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Our Other Approach: Sliding Window</a:t>
            </a:r>
          </a:p>
        </p:txBody>
      </p:sp>
      <p:sp>
        <p:nvSpPr>
          <p:cNvPr name="TextBox 15" id="15"/>
          <p:cNvSpPr txBox="true"/>
          <p:nvPr/>
        </p:nvSpPr>
        <p:spPr>
          <a:xfrm rot="0">
            <a:off x="582965" y="6218852"/>
            <a:ext cx="17117764" cy="712471"/>
          </a:xfrm>
          <a:prstGeom prst="rect">
            <a:avLst/>
          </a:prstGeom>
        </p:spPr>
        <p:txBody>
          <a:bodyPr anchor="t" rtlCol="false" tIns="0" lIns="0" bIns="0" rIns="0">
            <a:spAutoFit/>
          </a:bodyPr>
          <a:lstStyle/>
          <a:p>
            <a:pPr algn="ctr">
              <a:lnSpc>
                <a:spcPts val="5879"/>
              </a:lnSpc>
              <a:spcBef>
                <a:spcPct val="0"/>
              </a:spcBef>
            </a:pPr>
            <a:r>
              <a:rPr lang="en-US" sz="4199" spc="176">
                <a:solidFill>
                  <a:srgbClr val="00BF63"/>
                </a:solidFill>
                <a:latin typeface="Fira Code"/>
                <a:ea typeface="Fira Code"/>
                <a:cs typeface="Fira Code"/>
                <a:sym typeface="Fira Code"/>
              </a:rPr>
              <a:t>“Lorem ipsum dolor sit” </a:t>
            </a:r>
            <a:r>
              <a:rPr lang="en-US" sz="4199" spc="176">
                <a:solidFill>
                  <a:srgbClr val="000000"/>
                </a:solidFill>
                <a:latin typeface="Fira Code"/>
                <a:ea typeface="Fira Code"/>
                <a:cs typeface="Fira Code"/>
                <a:sym typeface="Fira Code"/>
              </a:rPr>
              <a:t>!= </a:t>
            </a:r>
            <a:r>
              <a:rPr lang="en-US" sz="4199" spc="176">
                <a:solidFill>
                  <a:srgbClr val="00BF63"/>
                </a:solidFill>
                <a:latin typeface="Fira Code"/>
                <a:ea typeface="Fira Code"/>
                <a:cs typeface="Fira Code"/>
                <a:sym typeface="Fira Code"/>
              </a:rPr>
              <a:t>“Lorem ipsum dolor sit”</a:t>
            </a:r>
          </a:p>
        </p:txBody>
      </p:sp>
      <p:sp>
        <p:nvSpPr>
          <p:cNvPr name="TextBox 16" id="16"/>
          <p:cNvSpPr txBox="true"/>
          <p:nvPr/>
        </p:nvSpPr>
        <p:spPr>
          <a:xfrm rot="0">
            <a:off x="6774133" y="8180070"/>
            <a:ext cx="5771864" cy="1080069"/>
          </a:xfrm>
          <a:prstGeom prst="rect">
            <a:avLst/>
          </a:prstGeom>
        </p:spPr>
        <p:txBody>
          <a:bodyPr anchor="t" rtlCol="false" tIns="0" lIns="0" bIns="0" rIns="0">
            <a:spAutoFit/>
          </a:bodyPr>
          <a:lstStyle/>
          <a:p>
            <a:pPr algn="ctr" marL="0" indent="0" lvl="0">
              <a:lnSpc>
                <a:spcPts val="8836"/>
              </a:lnSpc>
              <a:spcBef>
                <a:spcPct val="0"/>
              </a:spcBef>
            </a:pPr>
            <a:r>
              <a:rPr lang="en-US" sz="6312">
                <a:solidFill>
                  <a:srgbClr val="000000"/>
                </a:solidFill>
                <a:latin typeface="Fira Code"/>
                <a:ea typeface="Fira Code"/>
                <a:cs typeface="Fira Code"/>
                <a:sym typeface="Fira Code"/>
              </a:rPr>
              <a:t>(0, 4, 2, 4)</a:t>
            </a:r>
          </a:p>
        </p:txBody>
      </p:sp>
      <p:sp>
        <p:nvSpPr>
          <p:cNvPr name="TextBox 17" id="17"/>
          <p:cNvSpPr txBox="true"/>
          <p:nvPr/>
        </p:nvSpPr>
        <p:spPr>
          <a:xfrm rot="0">
            <a:off x="2396929" y="1100589"/>
            <a:ext cx="320129" cy="712470"/>
          </a:xfrm>
          <a:prstGeom prst="rect">
            <a:avLst/>
          </a:prstGeom>
        </p:spPr>
        <p:txBody>
          <a:bodyPr anchor="t" rtlCol="false" tIns="0" lIns="0" bIns="0" rIns="0">
            <a:spAutoFit/>
          </a:bodyPr>
          <a:lstStyle/>
          <a:p>
            <a:pPr algn="ctr" marL="0" indent="0" lvl="0">
              <a:lnSpc>
                <a:spcPts val="5880"/>
              </a:lnSpc>
              <a:spcBef>
                <a:spcPct val="0"/>
              </a:spcBef>
            </a:pPr>
            <a:r>
              <a:rPr lang="en-US" sz="4200">
                <a:solidFill>
                  <a:srgbClr val="000000"/>
                </a:solidFill>
                <a:latin typeface="Fira Code"/>
                <a:ea typeface="Fira Code"/>
                <a:cs typeface="Fira Code"/>
                <a:sym typeface="Fira Code"/>
              </a:rPr>
              <a:t>4</a:t>
            </a:r>
          </a:p>
        </p:txBody>
      </p:sp>
      <p:sp>
        <p:nvSpPr>
          <p:cNvPr name="TextBox 18" id="18"/>
          <p:cNvSpPr txBox="true"/>
          <p:nvPr/>
        </p:nvSpPr>
        <p:spPr>
          <a:xfrm rot="0">
            <a:off x="10934066" y="1605871"/>
            <a:ext cx="320129" cy="712470"/>
          </a:xfrm>
          <a:prstGeom prst="rect">
            <a:avLst/>
          </a:prstGeom>
        </p:spPr>
        <p:txBody>
          <a:bodyPr anchor="t" rtlCol="false" tIns="0" lIns="0" bIns="0" rIns="0">
            <a:spAutoFit/>
          </a:bodyPr>
          <a:lstStyle/>
          <a:p>
            <a:pPr algn="ctr" marL="0" indent="0" lvl="0">
              <a:lnSpc>
                <a:spcPts val="5880"/>
              </a:lnSpc>
              <a:spcBef>
                <a:spcPct val="0"/>
              </a:spcBef>
            </a:pPr>
            <a:r>
              <a:rPr lang="en-US" sz="4200">
                <a:solidFill>
                  <a:srgbClr val="000000"/>
                </a:solidFill>
                <a:latin typeface="Fira Code"/>
                <a:ea typeface="Fira Code"/>
                <a:cs typeface="Fira Code"/>
                <a:sym typeface="Fira Code"/>
              </a:rPr>
              <a:t>2</a:t>
            </a:r>
          </a:p>
        </p:txBody>
      </p:sp>
      <p:sp>
        <p:nvSpPr>
          <p:cNvPr name="TextBox 19" id="19"/>
          <p:cNvSpPr txBox="true"/>
          <p:nvPr/>
        </p:nvSpPr>
        <p:spPr>
          <a:xfrm rot="0">
            <a:off x="10662306" y="7350423"/>
            <a:ext cx="863650" cy="828042"/>
          </a:xfrm>
          <a:prstGeom prst="rect">
            <a:avLst/>
          </a:prstGeom>
        </p:spPr>
        <p:txBody>
          <a:bodyPr anchor="t" rtlCol="false" tIns="0" lIns="0" bIns="0" rIns="0">
            <a:spAutoFit/>
          </a:bodyPr>
          <a:lstStyle/>
          <a:p>
            <a:pPr algn="ctr">
              <a:lnSpc>
                <a:spcPts val="6859"/>
              </a:lnSpc>
              <a:spcBef>
                <a:spcPct val="0"/>
              </a:spcBef>
            </a:pPr>
            <a:r>
              <a:rPr lang="en-US" sz="4899" spc="205">
                <a:solidFill>
                  <a:srgbClr val="000000"/>
                </a:solidFill>
                <a:latin typeface="Open Sans"/>
                <a:ea typeface="Open Sans"/>
                <a:cs typeface="Open Sans"/>
                <a:sym typeface="Open Sans"/>
              </a:rPr>
              <a:t>NT</a:t>
            </a:r>
          </a:p>
        </p:txBody>
      </p:sp>
      <p:sp>
        <p:nvSpPr>
          <p:cNvPr name="TextBox 20" id="20"/>
          <p:cNvSpPr txBox="true"/>
          <p:nvPr/>
        </p:nvSpPr>
        <p:spPr>
          <a:xfrm rot="0">
            <a:off x="7889309" y="7350423"/>
            <a:ext cx="879128" cy="828042"/>
          </a:xfrm>
          <a:prstGeom prst="rect">
            <a:avLst/>
          </a:prstGeom>
        </p:spPr>
        <p:txBody>
          <a:bodyPr anchor="t" rtlCol="false" tIns="0" lIns="0" bIns="0" rIns="0">
            <a:spAutoFit/>
          </a:bodyPr>
          <a:lstStyle/>
          <a:p>
            <a:pPr algn="ctr">
              <a:lnSpc>
                <a:spcPts val="6859"/>
              </a:lnSpc>
              <a:spcBef>
                <a:spcPct val="0"/>
              </a:spcBef>
            </a:pPr>
            <a:r>
              <a:rPr lang="en-US" sz="4899" spc="205">
                <a:solidFill>
                  <a:srgbClr val="000000"/>
                </a:solidFill>
                <a:latin typeface="Open Sans"/>
                <a:ea typeface="Open Sans"/>
                <a:cs typeface="Open Sans"/>
                <a:sym typeface="Open Sans"/>
              </a:rPr>
              <a:t>OT</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9EA"/>
        </a:solidFill>
      </p:bgPr>
    </p:bg>
    <p:spTree>
      <p:nvGrpSpPr>
        <p:cNvPr id="1" name=""/>
        <p:cNvGrpSpPr/>
        <p:nvPr/>
      </p:nvGrpSpPr>
      <p:grpSpPr>
        <a:xfrm>
          <a:off x="0" y="0"/>
          <a:ext cx="0" cy="0"/>
          <a:chOff x="0" y="0"/>
          <a:chExt cx="0" cy="0"/>
        </a:xfrm>
      </p:grpSpPr>
      <p:sp>
        <p:nvSpPr>
          <p:cNvPr name="TextBox 2" id="2"/>
          <p:cNvSpPr txBox="true"/>
          <p:nvPr/>
        </p:nvSpPr>
        <p:spPr>
          <a:xfrm rot="0">
            <a:off x="2007840" y="3070665"/>
            <a:ext cx="6587282" cy="6296294"/>
          </a:xfrm>
          <a:prstGeom prst="rect">
            <a:avLst/>
          </a:prstGeom>
        </p:spPr>
        <p:txBody>
          <a:bodyPr anchor="t" rtlCol="false" tIns="0" lIns="0" bIns="0" rIns="0">
            <a:spAutoFit/>
          </a:bodyPr>
          <a:lstStyle/>
          <a:p>
            <a:pPr algn="ctr">
              <a:lnSpc>
                <a:spcPts val="6285"/>
              </a:lnSpc>
              <a:spcBef>
                <a:spcPct val="0"/>
              </a:spcBef>
            </a:pPr>
            <a:r>
              <a:rPr lang="en-US" sz="4489" spc="188">
                <a:solidFill>
                  <a:srgbClr val="000000"/>
                </a:solidFill>
                <a:latin typeface="Fira Code"/>
                <a:ea typeface="Fira Code"/>
                <a:cs typeface="Fira Code"/>
                <a:sym typeface="Fira Code"/>
              </a:rPr>
              <a:t>(481601, 178, 5),</a:t>
            </a:r>
          </a:p>
          <a:p>
            <a:pPr algn="ctr">
              <a:lnSpc>
                <a:spcPts val="6285"/>
              </a:lnSpc>
              <a:spcBef>
                <a:spcPct val="0"/>
              </a:spcBef>
            </a:pPr>
            <a:r>
              <a:rPr lang="en-US" sz="4489" spc="188">
                <a:solidFill>
                  <a:srgbClr val="000000"/>
                </a:solidFill>
                <a:latin typeface="Fira Code"/>
                <a:ea typeface="Fira Code"/>
                <a:cs typeface="Fira Code"/>
                <a:sym typeface="Fira Code"/>
              </a:rPr>
              <a:t> (481602, 179, 5),</a:t>
            </a:r>
          </a:p>
          <a:p>
            <a:pPr algn="ctr">
              <a:lnSpc>
                <a:spcPts val="6285"/>
              </a:lnSpc>
              <a:spcBef>
                <a:spcPct val="0"/>
              </a:spcBef>
            </a:pPr>
            <a:r>
              <a:rPr lang="en-US" sz="4489" spc="188">
                <a:solidFill>
                  <a:srgbClr val="000000"/>
                </a:solidFill>
                <a:latin typeface="Fira Code"/>
                <a:ea typeface="Fira Code"/>
                <a:cs typeface="Fira Code"/>
                <a:sym typeface="Fira Code"/>
              </a:rPr>
              <a:t> (479354, 574, 5),</a:t>
            </a:r>
          </a:p>
          <a:p>
            <a:pPr algn="ctr">
              <a:lnSpc>
                <a:spcPts val="6285"/>
              </a:lnSpc>
              <a:spcBef>
                <a:spcPct val="0"/>
              </a:spcBef>
            </a:pPr>
            <a:r>
              <a:rPr lang="en-US" sz="4489" spc="188">
                <a:solidFill>
                  <a:srgbClr val="000000"/>
                </a:solidFill>
                <a:latin typeface="Fira Code"/>
                <a:ea typeface="Fira Code"/>
                <a:cs typeface="Fira Code"/>
                <a:sym typeface="Fira Code"/>
              </a:rPr>
              <a:t> (482957, 575, 5),</a:t>
            </a:r>
          </a:p>
          <a:p>
            <a:pPr algn="ctr">
              <a:lnSpc>
                <a:spcPts val="6285"/>
              </a:lnSpc>
              <a:spcBef>
                <a:spcPct val="0"/>
              </a:spcBef>
            </a:pPr>
            <a:r>
              <a:rPr lang="en-US" sz="4489" spc="188">
                <a:solidFill>
                  <a:srgbClr val="000000"/>
                </a:solidFill>
                <a:latin typeface="Fira Code"/>
                <a:ea typeface="Fira Code"/>
                <a:cs typeface="Fira Code"/>
                <a:sym typeface="Fira Code"/>
              </a:rPr>
              <a:t> (486353, 607, 5),</a:t>
            </a:r>
          </a:p>
          <a:p>
            <a:pPr algn="ctr">
              <a:lnSpc>
                <a:spcPts val="6285"/>
              </a:lnSpc>
              <a:spcBef>
                <a:spcPct val="0"/>
              </a:spcBef>
            </a:pPr>
            <a:r>
              <a:rPr lang="en-US" sz="4489" spc="188">
                <a:solidFill>
                  <a:srgbClr val="000000"/>
                </a:solidFill>
                <a:latin typeface="Fira Code"/>
                <a:ea typeface="Fira Code"/>
                <a:cs typeface="Fira Code"/>
                <a:sym typeface="Fira Code"/>
              </a:rPr>
              <a:t> (479354, 633, 5),</a:t>
            </a:r>
          </a:p>
          <a:p>
            <a:pPr algn="ctr">
              <a:lnSpc>
                <a:spcPts val="6285"/>
              </a:lnSpc>
              <a:spcBef>
                <a:spcPct val="0"/>
              </a:spcBef>
            </a:pPr>
            <a:r>
              <a:rPr lang="en-US" sz="4489" spc="188">
                <a:solidFill>
                  <a:srgbClr val="000000"/>
                </a:solidFill>
                <a:latin typeface="Fira Code"/>
                <a:ea typeface="Fira Code"/>
                <a:cs typeface="Fira Code"/>
                <a:sym typeface="Fira Code"/>
              </a:rPr>
              <a:t> (482957, 634, 5),</a:t>
            </a:r>
          </a:p>
          <a:p>
            <a:pPr algn="ctr">
              <a:lnSpc>
                <a:spcPts val="6285"/>
              </a:lnSpc>
              <a:spcBef>
                <a:spcPct val="0"/>
              </a:spcBef>
            </a:pPr>
            <a:r>
              <a:rPr lang="en-US" sz="4489" spc="188">
                <a:solidFill>
                  <a:srgbClr val="000000"/>
                </a:solidFill>
                <a:latin typeface="Fira Code"/>
                <a:ea typeface="Fira Code"/>
                <a:cs typeface="Fira Code"/>
                <a:sym typeface="Fira Code"/>
              </a:rPr>
              <a:t> (482957, 695, 5),</a:t>
            </a:r>
          </a:p>
        </p:txBody>
      </p:sp>
      <p:grpSp>
        <p:nvGrpSpPr>
          <p:cNvPr name="Group 3" id="3"/>
          <p:cNvGrpSpPr/>
          <p:nvPr/>
        </p:nvGrpSpPr>
        <p:grpSpPr>
          <a:xfrm rot="0">
            <a:off x="2007840" y="3051903"/>
            <a:ext cx="3293641" cy="1664476"/>
            <a:chOff x="0" y="0"/>
            <a:chExt cx="867461" cy="438380"/>
          </a:xfrm>
        </p:grpSpPr>
        <p:sp>
          <p:nvSpPr>
            <p:cNvPr name="Freeform 4" id="4"/>
            <p:cNvSpPr/>
            <p:nvPr/>
          </p:nvSpPr>
          <p:spPr>
            <a:xfrm flipH="false" flipV="false" rot="0">
              <a:off x="0" y="0"/>
              <a:ext cx="867461" cy="438380"/>
            </a:xfrm>
            <a:custGeom>
              <a:avLst/>
              <a:gdLst/>
              <a:ahLst/>
              <a:cxnLst/>
              <a:rect r="r" b="b" t="t" l="l"/>
              <a:pathLst>
                <a:path h="438380" w="867461">
                  <a:moveTo>
                    <a:pt x="39960" y="0"/>
                  </a:moveTo>
                  <a:lnTo>
                    <a:pt x="827501" y="0"/>
                  </a:lnTo>
                  <a:cubicBezTo>
                    <a:pt x="849570" y="0"/>
                    <a:pt x="867461" y="17891"/>
                    <a:pt x="867461" y="39960"/>
                  </a:cubicBezTo>
                  <a:lnTo>
                    <a:pt x="867461" y="398421"/>
                  </a:lnTo>
                  <a:cubicBezTo>
                    <a:pt x="867461" y="420490"/>
                    <a:pt x="849570" y="438380"/>
                    <a:pt x="827501" y="438380"/>
                  </a:cubicBezTo>
                  <a:lnTo>
                    <a:pt x="39960" y="438380"/>
                  </a:lnTo>
                  <a:cubicBezTo>
                    <a:pt x="17891" y="438380"/>
                    <a:pt x="0" y="420490"/>
                    <a:pt x="0" y="398421"/>
                  </a:cubicBezTo>
                  <a:lnTo>
                    <a:pt x="0" y="39960"/>
                  </a:lnTo>
                  <a:cubicBezTo>
                    <a:pt x="0" y="17891"/>
                    <a:pt x="17891" y="0"/>
                    <a:pt x="39960" y="0"/>
                  </a:cubicBezTo>
                  <a:close/>
                </a:path>
              </a:pathLst>
            </a:custGeom>
            <a:solidFill>
              <a:srgbClr val="00BF63">
                <a:alpha val="50980"/>
              </a:srgbClr>
            </a:solidFill>
          </p:spPr>
        </p:sp>
        <p:sp>
          <p:nvSpPr>
            <p:cNvPr name="TextBox 5" id="5"/>
            <p:cNvSpPr txBox="true"/>
            <p:nvPr/>
          </p:nvSpPr>
          <p:spPr>
            <a:xfrm>
              <a:off x="0" y="-47625"/>
              <a:ext cx="867461" cy="486005"/>
            </a:xfrm>
            <a:prstGeom prst="rect">
              <a:avLst/>
            </a:prstGeom>
          </p:spPr>
          <p:txBody>
            <a:bodyPr anchor="ctr" rtlCol="false" tIns="50800" lIns="50800" bIns="50800" rIns="50800"/>
            <a:lstStyle/>
            <a:p>
              <a:pPr algn="ctr">
                <a:lnSpc>
                  <a:spcPts val="3500"/>
                </a:lnSpc>
              </a:pPr>
            </a:p>
          </p:txBody>
        </p:sp>
      </p:grpSp>
      <p:grpSp>
        <p:nvGrpSpPr>
          <p:cNvPr name="Group 6" id="6"/>
          <p:cNvGrpSpPr/>
          <p:nvPr/>
        </p:nvGrpSpPr>
        <p:grpSpPr>
          <a:xfrm rot="0">
            <a:off x="5474886" y="3051903"/>
            <a:ext cx="1689527" cy="1664476"/>
            <a:chOff x="0" y="0"/>
            <a:chExt cx="444978" cy="438380"/>
          </a:xfrm>
        </p:grpSpPr>
        <p:sp>
          <p:nvSpPr>
            <p:cNvPr name="Freeform 7" id="7"/>
            <p:cNvSpPr/>
            <p:nvPr/>
          </p:nvSpPr>
          <p:spPr>
            <a:xfrm flipH="false" flipV="false" rot="0">
              <a:off x="0" y="0"/>
              <a:ext cx="444978" cy="438380"/>
            </a:xfrm>
            <a:custGeom>
              <a:avLst/>
              <a:gdLst/>
              <a:ahLst/>
              <a:cxnLst/>
              <a:rect r="r" b="b" t="t" l="l"/>
              <a:pathLst>
                <a:path h="438380" w="444978">
                  <a:moveTo>
                    <a:pt x="77899" y="0"/>
                  </a:moveTo>
                  <a:lnTo>
                    <a:pt x="367079" y="0"/>
                  </a:lnTo>
                  <a:cubicBezTo>
                    <a:pt x="387739" y="0"/>
                    <a:pt x="407553" y="8207"/>
                    <a:pt x="422162" y="22816"/>
                  </a:cubicBezTo>
                  <a:cubicBezTo>
                    <a:pt x="436771" y="37425"/>
                    <a:pt x="444978" y="57239"/>
                    <a:pt x="444978" y="77899"/>
                  </a:cubicBezTo>
                  <a:lnTo>
                    <a:pt x="444978" y="360481"/>
                  </a:lnTo>
                  <a:cubicBezTo>
                    <a:pt x="444978" y="381141"/>
                    <a:pt x="436771" y="400955"/>
                    <a:pt x="422162" y="415564"/>
                  </a:cubicBezTo>
                  <a:cubicBezTo>
                    <a:pt x="407553" y="430173"/>
                    <a:pt x="387739" y="438380"/>
                    <a:pt x="367079" y="438380"/>
                  </a:cubicBezTo>
                  <a:lnTo>
                    <a:pt x="77899" y="438380"/>
                  </a:lnTo>
                  <a:cubicBezTo>
                    <a:pt x="57239" y="438380"/>
                    <a:pt x="37425" y="430173"/>
                    <a:pt x="22816" y="415564"/>
                  </a:cubicBezTo>
                  <a:cubicBezTo>
                    <a:pt x="8207" y="400955"/>
                    <a:pt x="0" y="381141"/>
                    <a:pt x="0" y="360481"/>
                  </a:cubicBezTo>
                  <a:lnTo>
                    <a:pt x="0" y="77899"/>
                  </a:lnTo>
                  <a:cubicBezTo>
                    <a:pt x="0" y="57239"/>
                    <a:pt x="8207" y="37425"/>
                    <a:pt x="22816" y="22816"/>
                  </a:cubicBezTo>
                  <a:cubicBezTo>
                    <a:pt x="37425" y="8207"/>
                    <a:pt x="57239" y="0"/>
                    <a:pt x="77899" y="0"/>
                  </a:cubicBezTo>
                  <a:close/>
                </a:path>
              </a:pathLst>
            </a:custGeom>
            <a:solidFill>
              <a:srgbClr val="00BF63">
                <a:alpha val="50980"/>
              </a:srgbClr>
            </a:solidFill>
          </p:spPr>
        </p:sp>
        <p:sp>
          <p:nvSpPr>
            <p:cNvPr name="TextBox 8" id="8"/>
            <p:cNvSpPr txBox="true"/>
            <p:nvPr/>
          </p:nvSpPr>
          <p:spPr>
            <a:xfrm>
              <a:off x="0" y="-47625"/>
              <a:ext cx="444978" cy="486005"/>
            </a:xfrm>
            <a:prstGeom prst="rect">
              <a:avLst/>
            </a:prstGeom>
          </p:spPr>
          <p:txBody>
            <a:bodyPr anchor="ctr" rtlCol="false" tIns="50800" lIns="50800" bIns="50800" rIns="50800"/>
            <a:lstStyle/>
            <a:p>
              <a:pPr algn="ctr">
                <a:lnSpc>
                  <a:spcPts val="3500"/>
                </a:lnSpc>
              </a:pPr>
            </a:p>
          </p:txBody>
        </p:sp>
      </p:grpSp>
      <p:grpSp>
        <p:nvGrpSpPr>
          <p:cNvPr name="Group 9" id="9"/>
          <p:cNvGrpSpPr/>
          <p:nvPr/>
        </p:nvGrpSpPr>
        <p:grpSpPr>
          <a:xfrm rot="0">
            <a:off x="9286875" y="2927630"/>
            <a:ext cx="1913021" cy="191302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BF63"/>
            </a:solidFill>
          </p:spPr>
        </p:sp>
        <p:sp>
          <p:nvSpPr>
            <p:cNvPr name="TextBox 11" id="11"/>
            <p:cNvSpPr txBox="true"/>
            <p:nvPr/>
          </p:nvSpPr>
          <p:spPr>
            <a:xfrm>
              <a:off x="0" y="155575"/>
              <a:ext cx="711200" cy="454025"/>
            </a:xfrm>
            <a:prstGeom prst="rect">
              <a:avLst/>
            </a:prstGeom>
          </p:spPr>
          <p:txBody>
            <a:bodyPr anchor="ctr" rtlCol="false" tIns="50800" lIns="50800" bIns="50800" rIns="50800"/>
            <a:lstStyle/>
            <a:p>
              <a:pPr algn="ctr">
                <a:lnSpc>
                  <a:spcPts val="3500"/>
                </a:lnSpc>
              </a:pPr>
            </a:p>
          </p:txBody>
        </p:sp>
      </p:grpSp>
      <p:sp>
        <p:nvSpPr>
          <p:cNvPr name="TextBox 12" id="12"/>
          <p:cNvSpPr txBox="true"/>
          <p:nvPr/>
        </p:nvSpPr>
        <p:spPr>
          <a:xfrm rot="0">
            <a:off x="4182752" y="612272"/>
            <a:ext cx="11742273"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Our Other Approach: Sliding Window</a:t>
            </a:r>
          </a:p>
        </p:txBody>
      </p:sp>
      <p:sp>
        <p:nvSpPr>
          <p:cNvPr name="TextBox 13" id="13"/>
          <p:cNvSpPr txBox="true"/>
          <p:nvPr/>
        </p:nvSpPr>
        <p:spPr>
          <a:xfrm rot="0">
            <a:off x="2395463" y="2053472"/>
            <a:ext cx="5812036"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Times New Roman"/>
                <a:ea typeface="Times New Roman"/>
                <a:cs typeface="Times New Roman"/>
                <a:sym typeface="Times New Roman"/>
              </a:rPr>
              <a:t>References Database</a:t>
            </a:r>
          </a:p>
        </p:txBody>
      </p:sp>
      <p:sp>
        <p:nvSpPr>
          <p:cNvPr name="TextBox 14" id="14"/>
          <p:cNvSpPr txBox="true"/>
          <p:nvPr/>
        </p:nvSpPr>
        <p:spPr>
          <a:xfrm rot="0">
            <a:off x="10792001" y="3419003"/>
            <a:ext cx="7295108" cy="844552"/>
          </a:xfrm>
          <a:prstGeom prst="rect">
            <a:avLst/>
          </a:prstGeom>
        </p:spPr>
        <p:txBody>
          <a:bodyPr anchor="t" rtlCol="false" tIns="0" lIns="0" bIns="0" rIns="0">
            <a:spAutoFit/>
          </a:bodyPr>
          <a:lstStyle/>
          <a:p>
            <a:pPr algn="ctr">
              <a:lnSpc>
                <a:spcPts val="6999"/>
              </a:lnSpc>
              <a:spcBef>
                <a:spcPct val="0"/>
              </a:spcBef>
            </a:pPr>
            <a:r>
              <a:rPr lang="en-US" sz="4999" spc="209">
                <a:solidFill>
                  <a:srgbClr val="000000"/>
                </a:solidFill>
                <a:latin typeface="Fira Code"/>
                <a:ea typeface="Fira Code"/>
                <a:cs typeface="Fira Code"/>
                <a:sym typeface="Fira Code"/>
              </a:rPr>
              <a:t> (41601, 178, 6)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5078847" y="3599824"/>
            <a:ext cx="8130305" cy="2581372"/>
          </a:xfrm>
          <a:custGeom>
            <a:avLst/>
            <a:gdLst/>
            <a:ahLst/>
            <a:cxnLst/>
            <a:rect r="r" b="b" t="t" l="l"/>
            <a:pathLst>
              <a:path h="2581372" w="8130305">
                <a:moveTo>
                  <a:pt x="0" y="0"/>
                </a:moveTo>
                <a:lnTo>
                  <a:pt x="8130306" y="0"/>
                </a:lnTo>
                <a:lnTo>
                  <a:pt x="8130306" y="2581372"/>
                </a:lnTo>
                <a:lnTo>
                  <a:pt x="0" y="25813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220449">
            <a:off x="4678200" y="3607248"/>
            <a:ext cx="8913899" cy="2462278"/>
          </a:xfrm>
          <a:prstGeom prst="rect">
            <a:avLst/>
          </a:prstGeom>
        </p:spPr>
        <p:txBody>
          <a:bodyPr anchor="t" rtlCol="false" tIns="0" lIns="0" bIns="0" rIns="0">
            <a:spAutoFit/>
          </a:bodyPr>
          <a:lstStyle/>
          <a:p>
            <a:pPr algn="ctr">
              <a:lnSpc>
                <a:spcPts val="20202"/>
              </a:lnSpc>
              <a:spcBef>
                <a:spcPct val="0"/>
              </a:spcBef>
            </a:pPr>
            <a:r>
              <a:rPr lang="en-US" b="true" sz="14430">
                <a:solidFill>
                  <a:srgbClr val="493423"/>
                </a:solidFill>
                <a:latin typeface="WC Mano Negra Bold"/>
                <a:ea typeface="WC Mano Negra Bold"/>
                <a:cs typeface="WC Mano Negra Bold"/>
                <a:sym typeface="WC Mano Negra Bold"/>
              </a:rPr>
              <a:t>The Results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
        <p:nvSpPr>
          <p:cNvPr name="TextBox 4" id="4"/>
          <p:cNvSpPr txBox="true"/>
          <p:nvPr/>
        </p:nvSpPr>
        <p:spPr>
          <a:xfrm rot="0">
            <a:off x="4304846" y="1722604"/>
            <a:ext cx="10138023"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493423"/>
                </a:solidFill>
                <a:latin typeface="Times New Roman"/>
                <a:ea typeface="Times New Roman"/>
                <a:cs typeface="Times New Roman"/>
                <a:sym typeface="Times New Roman"/>
              </a:rPr>
              <a:t>The Most quoted verses in the Bible</a:t>
            </a:r>
          </a:p>
        </p:txBody>
      </p:sp>
      <p:sp>
        <p:nvSpPr>
          <p:cNvPr name="TextBox 5" id="5"/>
          <p:cNvSpPr txBox="true"/>
          <p:nvPr/>
        </p:nvSpPr>
        <p:spPr>
          <a:xfrm rot="0">
            <a:off x="253576" y="3584741"/>
            <a:ext cx="9030045" cy="1377316"/>
          </a:xfrm>
          <a:prstGeom prst="rect">
            <a:avLst/>
          </a:prstGeom>
        </p:spPr>
        <p:txBody>
          <a:bodyPr anchor="t" rtlCol="false" tIns="0" lIns="0" bIns="0" rIns="0">
            <a:spAutoFit/>
          </a:bodyPr>
          <a:lstStyle/>
          <a:p>
            <a:pPr algn="ctr">
              <a:lnSpc>
                <a:spcPts val="5459"/>
              </a:lnSpc>
              <a:spcBef>
                <a:spcPct val="0"/>
              </a:spcBef>
            </a:pPr>
            <a:r>
              <a:rPr lang="en-US" sz="3899" spc="163">
                <a:solidFill>
                  <a:srgbClr val="493423"/>
                </a:solidFill>
                <a:latin typeface="Times New Roman"/>
                <a:ea typeface="Times New Roman"/>
                <a:cs typeface="Times New Roman"/>
                <a:sym typeface="Times New Roman"/>
              </a:rPr>
              <a:t>And I will establish his seed forever, and his throne as the days of heaven.</a:t>
            </a:r>
          </a:p>
        </p:txBody>
      </p:sp>
      <p:sp>
        <p:nvSpPr>
          <p:cNvPr name="TextBox 6" id="6"/>
          <p:cNvSpPr txBox="true"/>
          <p:nvPr/>
        </p:nvSpPr>
        <p:spPr>
          <a:xfrm rot="0">
            <a:off x="10020539" y="3822548"/>
            <a:ext cx="3450580"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493423"/>
                </a:solidFill>
                <a:latin typeface="Times New Roman"/>
                <a:ea typeface="Times New Roman"/>
                <a:cs typeface="Times New Roman"/>
                <a:sym typeface="Times New Roman"/>
              </a:rPr>
              <a:t>Psalm 89:29</a:t>
            </a:r>
          </a:p>
        </p:txBody>
      </p:sp>
      <p:sp>
        <p:nvSpPr>
          <p:cNvPr name="TextBox 7" id="7"/>
          <p:cNvSpPr txBox="true"/>
          <p:nvPr/>
        </p:nvSpPr>
        <p:spPr>
          <a:xfrm rot="0">
            <a:off x="14617197" y="3822548"/>
            <a:ext cx="2382589"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493423"/>
                </a:solidFill>
                <a:latin typeface="Times New Roman"/>
                <a:ea typeface="Times New Roman"/>
                <a:cs typeface="Times New Roman"/>
                <a:sym typeface="Times New Roman"/>
              </a:rPr>
              <a:t>22 times</a:t>
            </a:r>
          </a:p>
        </p:txBody>
      </p:sp>
      <p:sp>
        <p:nvSpPr>
          <p:cNvPr name="TextBox 8" id="8"/>
          <p:cNvSpPr txBox="true"/>
          <p:nvPr/>
        </p:nvSpPr>
        <p:spPr>
          <a:xfrm rot="0">
            <a:off x="113955" y="6262806"/>
            <a:ext cx="9030045" cy="2748916"/>
          </a:xfrm>
          <a:prstGeom prst="rect">
            <a:avLst/>
          </a:prstGeom>
        </p:spPr>
        <p:txBody>
          <a:bodyPr anchor="t" rtlCol="false" tIns="0" lIns="0" bIns="0" rIns="0">
            <a:spAutoFit/>
          </a:bodyPr>
          <a:lstStyle/>
          <a:p>
            <a:pPr algn="ctr">
              <a:lnSpc>
                <a:spcPts val="5459"/>
              </a:lnSpc>
              <a:spcBef>
                <a:spcPct val="0"/>
              </a:spcBef>
            </a:pPr>
            <a:r>
              <a:rPr lang="en-US" sz="3899" spc="163">
                <a:solidFill>
                  <a:srgbClr val="493423"/>
                </a:solidFill>
                <a:latin typeface="Times New Roman"/>
                <a:ea typeface="Times New Roman"/>
                <a:cs typeface="Times New Roman"/>
                <a:sym typeface="Times New Roman"/>
              </a:rPr>
              <a:t>He has scattered abroad, he has given to the poor; his righteousness endures forever; his horn shall be exalted in glory.</a:t>
            </a:r>
          </a:p>
        </p:txBody>
      </p:sp>
      <p:sp>
        <p:nvSpPr>
          <p:cNvPr name="TextBox 9" id="9"/>
          <p:cNvSpPr txBox="true"/>
          <p:nvPr/>
        </p:nvSpPr>
        <p:spPr>
          <a:xfrm rot="0">
            <a:off x="10044054" y="6915000"/>
            <a:ext cx="3427065"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493423"/>
                </a:solidFill>
                <a:latin typeface="Times New Roman"/>
                <a:ea typeface="Times New Roman"/>
                <a:cs typeface="Times New Roman"/>
                <a:sym typeface="Times New Roman"/>
              </a:rPr>
              <a:t>Psalm 112:9</a:t>
            </a:r>
          </a:p>
        </p:txBody>
      </p:sp>
      <p:sp>
        <p:nvSpPr>
          <p:cNvPr name="TextBox 10" id="10"/>
          <p:cNvSpPr txBox="true"/>
          <p:nvPr/>
        </p:nvSpPr>
        <p:spPr>
          <a:xfrm rot="0">
            <a:off x="14617197" y="6915000"/>
            <a:ext cx="2382589"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493423"/>
                </a:solidFill>
                <a:latin typeface="Times New Roman"/>
                <a:ea typeface="Times New Roman"/>
                <a:cs typeface="Times New Roman"/>
                <a:sym typeface="Times New Roman"/>
              </a:rPr>
              <a:t>22 times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
        <p:nvSpPr>
          <p:cNvPr name="TextBox 4" id="4"/>
          <p:cNvSpPr txBox="true"/>
          <p:nvPr/>
        </p:nvSpPr>
        <p:spPr>
          <a:xfrm rot="0">
            <a:off x="3137510" y="1543985"/>
            <a:ext cx="12554569" cy="7467600"/>
          </a:xfrm>
          <a:prstGeom prst="rect">
            <a:avLst/>
          </a:prstGeom>
        </p:spPr>
        <p:txBody>
          <a:bodyPr anchor="t" rtlCol="false" tIns="0" lIns="0" bIns="0" rIns="0">
            <a:spAutoFit/>
          </a:bodyPr>
          <a:lstStyle/>
          <a:p>
            <a:pPr algn="ctr">
              <a:lnSpc>
                <a:spcPts val="8400"/>
              </a:lnSpc>
            </a:pPr>
            <a:r>
              <a:rPr lang="en-US" sz="6000" b="true">
                <a:solidFill>
                  <a:srgbClr val="493423"/>
                </a:solidFill>
                <a:latin typeface="Times New Roman Bold"/>
                <a:ea typeface="Times New Roman Bold"/>
                <a:cs typeface="Times New Roman Bold"/>
                <a:sym typeface="Times New Roman Bold"/>
              </a:rPr>
              <a:t>Words that occur most in references (compared to all OT)</a:t>
            </a:r>
          </a:p>
          <a:p>
            <a:pPr algn="l" marL="1295400" indent="-647700" lvl="1">
              <a:lnSpc>
                <a:spcPts val="8400"/>
              </a:lnSpc>
              <a:buAutoNum type="arabicPeriod" startAt="1"/>
            </a:pPr>
            <a:r>
              <a:rPr lang="en-US" b="true" sz="6000">
                <a:solidFill>
                  <a:srgbClr val="493423"/>
                </a:solidFill>
                <a:latin typeface="Times New Roman Bold"/>
                <a:ea typeface="Times New Roman Bold"/>
                <a:cs typeface="Times New Roman Bold"/>
                <a:sym typeface="Times New Roman Bold"/>
              </a:rPr>
              <a:t>“That” (loosely)</a:t>
            </a:r>
          </a:p>
          <a:p>
            <a:pPr algn="l" marL="1295400" indent="-647700" lvl="1">
              <a:lnSpc>
                <a:spcPts val="8400"/>
              </a:lnSpc>
              <a:buAutoNum type="arabicPeriod" startAt="1"/>
            </a:pPr>
            <a:r>
              <a:rPr lang="en-US" b="true" sz="6000">
                <a:solidFill>
                  <a:srgbClr val="493423"/>
                </a:solidFill>
                <a:latin typeface="Times New Roman Bold"/>
                <a:ea typeface="Times New Roman Bold"/>
                <a:cs typeface="Times New Roman Bold"/>
                <a:sym typeface="Times New Roman Bold"/>
              </a:rPr>
              <a:t>“Father”</a:t>
            </a:r>
          </a:p>
          <a:p>
            <a:pPr algn="l" marL="1295400" indent="-647700" lvl="1">
              <a:lnSpc>
                <a:spcPts val="8400"/>
              </a:lnSpc>
              <a:buAutoNum type="arabicPeriod" startAt="1"/>
            </a:pPr>
            <a:r>
              <a:rPr lang="en-US" b="true" sz="6000">
                <a:solidFill>
                  <a:srgbClr val="493423"/>
                </a:solidFill>
                <a:latin typeface="Times New Roman Bold"/>
                <a:ea typeface="Times New Roman Bold"/>
                <a:cs typeface="Times New Roman Bold"/>
                <a:sym typeface="Times New Roman Bold"/>
              </a:rPr>
              <a:t>“God”</a:t>
            </a:r>
          </a:p>
          <a:p>
            <a:pPr algn="l" marL="1295400" indent="-647700" lvl="1">
              <a:lnSpc>
                <a:spcPts val="8400"/>
              </a:lnSpc>
              <a:buAutoNum type="arabicPeriod" startAt="1"/>
            </a:pPr>
            <a:r>
              <a:rPr lang="en-US" b="true" sz="6000">
                <a:solidFill>
                  <a:srgbClr val="493423"/>
                </a:solidFill>
                <a:latin typeface="Times New Roman Bold"/>
                <a:ea typeface="Times New Roman Bold"/>
                <a:cs typeface="Times New Roman Bold"/>
                <a:sym typeface="Times New Roman Bold"/>
              </a:rPr>
              <a:t>“You”</a:t>
            </a:r>
          </a:p>
          <a:p>
            <a:pPr algn="l" marL="1295400" indent="-647700" lvl="1">
              <a:lnSpc>
                <a:spcPts val="8400"/>
              </a:lnSpc>
              <a:spcBef>
                <a:spcPct val="0"/>
              </a:spcBef>
              <a:buAutoNum type="arabicPeriod" startAt="1"/>
            </a:pPr>
            <a:r>
              <a:rPr lang="en-US" b="true" sz="6000">
                <a:solidFill>
                  <a:srgbClr val="493423"/>
                </a:solidFill>
                <a:latin typeface="Times New Roman Bold"/>
                <a:ea typeface="Times New Roman Bold"/>
                <a:cs typeface="Times New Roman Bold"/>
                <a:sym typeface="Times New Roman Bold"/>
              </a:rPr>
              <a:t>“In”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3316204" y="1744579"/>
            <a:ext cx="11521440" cy="8229600"/>
          </a:xfrm>
          <a:prstGeom prst="rect">
            <a:avLst/>
          </a:prstGeom>
        </p:spPr>
      </p:pic>
      <p:sp>
        <p:nvSpPr>
          <p:cNvPr name="TextBox 4" id="4"/>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Tree>
  </p:cSld>
  <p:clrMapOvr>
    <a:masterClrMapping/>
  </p:clrMapOvr>
  <p:timing>
    <p:tnLst>
      <p:par>
        <p:cTn dur="indefinite" restart="never" nodeType="tmRoot">
          <p:childTnLst>
            <p:video>
              <p:cMediaNode vol="0">
                <p:cTn fill="hold" display="false">
                  <p:stCondLst>
                    <p:cond delay="indefinite"/>
                  </p:stCondLst>
                </p:cTn>
                <p:tgtEl>
                  <p:spTgt spid="3"/>
                </p:tgtEl>
              </p:cMediaNode>
            </p:video>
          </p:childTnLst>
        </p:cTn>
      </p:par>
    </p:tnLst>
  </p:timing>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4525" y="2412410"/>
            <a:ext cx="17859324" cy="6429357"/>
          </a:xfrm>
          <a:custGeom>
            <a:avLst/>
            <a:gdLst/>
            <a:ahLst/>
            <a:cxnLst/>
            <a:rect r="r" b="b" t="t" l="l"/>
            <a:pathLst>
              <a:path h="6429357" w="17859324">
                <a:moveTo>
                  <a:pt x="0" y="0"/>
                </a:moveTo>
                <a:lnTo>
                  <a:pt x="17859324" y="0"/>
                </a:lnTo>
                <a:lnTo>
                  <a:pt x="17859324" y="6429357"/>
                </a:lnTo>
                <a:lnTo>
                  <a:pt x="0" y="6429357"/>
                </a:lnTo>
                <a:lnTo>
                  <a:pt x="0" y="0"/>
                </a:lnTo>
                <a:close/>
              </a:path>
            </a:pathLst>
          </a:custGeom>
          <a:blipFill>
            <a:blip r:embed="rId4"/>
            <a:stretch>
              <a:fillRect l="0" t="0" r="0" b="0"/>
            </a:stretch>
          </a:blipFill>
        </p:spPr>
      </p:sp>
      <p:sp>
        <p:nvSpPr>
          <p:cNvPr name="TextBox 4" id="4"/>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4086506" y="2959886"/>
            <a:ext cx="8274677" cy="6517613"/>
          </a:xfrm>
          <a:custGeom>
            <a:avLst/>
            <a:gdLst/>
            <a:ahLst/>
            <a:cxnLst/>
            <a:rect r="r" b="b" t="t" l="l"/>
            <a:pathLst>
              <a:path h="6517613" w="8274677">
                <a:moveTo>
                  <a:pt x="0" y="0"/>
                </a:moveTo>
                <a:lnTo>
                  <a:pt x="8274677" y="0"/>
                </a:lnTo>
                <a:lnTo>
                  <a:pt x="8274677" y="6517613"/>
                </a:lnTo>
                <a:lnTo>
                  <a:pt x="0" y="6517613"/>
                </a:lnTo>
                <a:lnTo>
                  <a:pt x="0" y="0"/>
                </a:lnTo>
                <a:close/>
              </a:path>
            </a:pathLst>
          </a:custGeom>
          <a:blipFill>
            <a:blip r:embed="rId2"/>
            <a:stretch>
              <a:fillRect l="-95267" t="-18376" r="0" b="0"/>
            </a:stretch>
          </a:blipFill>
        </p:spPr>
      </p:sp>
      <p:sp>
        <p:nvSpPr>
          <p:cNvPr name="Freeform 3" id="3"/>
          <p:cNvSpPr/>
          <p:nvPr/>
        </p:nvSpPr>
        <p:spPr>
          <a:xfrm flipH="false" flipV="false" rot="0">
            <a:off x="9542818" y="8084620"/>
            <a:ext cx="1917355" cy="866497"/>
          </a:xfrm>
          <a:custGeom>
            <a:avLst/>
            <a:gdLst/>
            <a:ahLst/>
            <a:cxnLst/>
            <a:rect r="r" b="b" t="t" l="l"/>
            <a:pathLst>
              <a:path h="866497" w="1917355">
                <a:moveTo>
                  <a:pt x="0" y="0"/>
                </a:moveTo>
                <a:lnTo>
                  <a:pt x="1917355" y="0"/>
                </a:lnTo>
                <a:lnTo>
                  <a:pt x="1917355" y="866497"/>
                </a:lnTo>
                <a:lnTo>
                  <a:pt x="0" y="866497"/>
                </a:lnTo>
                <a:lnTo>
                  <a:pt x="0" y="0"/>
                </a:lnTo>
                <a:close/>
              </a:path>
            </a:pathLst>
          </a:custGeom>
          <a:blipFill>
            <a:blip r:embed="rId3"/>
            <a:stretch>
              <a:fillRect l="0" t="-2745" r="-5490" b="-2745"/>
            </a:stretch>
          </a:blipFill>
        </p:spPr>
      </p:sp>
      <p:sp>
        <p:nvSpPr>
          <p:cNvPr name="Freeform 4" id="4"/>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
        <p:nvSpPr>
          <p:cNvPr name="TextBox 6" id="6"/>
          <p:cNvSpPr txBox="true"/>
          <p:nvPr/>
        </p:nvSpPr>
        <p:spPr>
          <a:xfrm rot="0">
            <a:off x="4032166" y="1873962"/>
            <a:ext cx="8329017" cy="882652"/>
          </a:xfrm>
          <a:prstGeom prst="rect">
            <a:avLst/>
          </a:prstGeom>
        </p:spPr>
        <p:txBody>
          <a:bodyPr anchor="t" rtlCol="false" tIns="0" lIns="0" bIns="0" rIns="0">
            <a:spAutoFit/>
          </a:bodyPr>
          <a:lstStyle/>
          <a:p>
            <a:pPr algn="ctr">
              <a:lnSpc>
                <a:spcPts val="6999"/>
              </a:lnSpc>
              <a:spcBef>
                <a:spcPct val="0"/>
              </a:spcBef>
            </a:pPr>
            <a:r>
              <a:rPr lang="en-US" sz="4999" spc="209">
                <a:solidFill>
                  <a:srgbClr val="493423"/>
                </a:solidFill>
                <a:latin typeface="Times New Roman"/>
                <a:ea typeface="Times New Roman"/>
                <a:cs typeface="Times New Roman"/>
                <a:sym typeface="Times New Roman"/>
              </a:rPr>
              <a:t>Allusions by each Author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8377" y="2118776"/>
            <a:ext cx="17711246" cy="6489106"/>
          </a:xfrm>
          <a:custGeom>
            <a:avLst/>
            <a:gdLst/>
            <a:ahLst/>
            <a:cxnLst/>
            <a:rect r="r" b="b" t="t" l="l"/>
            <a:pathLst>
              <a:path h="6489106" w="17711246">
                <a:moveTo>
                  <a:pt x="0" y="0"/>
                </a:moveTo>
                <a:lnTo>
                  <a:pt x="17711246" y="0"/>
                </a:lnTo>
                <a:lnTo>
                  <a:pt x="17711246" y="6489106"/>
                </a:lnTo>
                <a:lnTo>
                  <a:pt x="0" y="6489106"/>
                </a:lnTo>
                <a:lnTo>
                  <a:pt x="0" y="0"/>
                </a:lnTo>
                <a:close/>
              </a:path>
            </a:pathLst>
          </a:custGeom>
          <a:blipFill>
            <a:blip r:embed="rId4"/>
            <a:stretch>
              <a:fillRect l="-492" t="-3306" r="-1501" b="-390"/>
            </a:stretch>
          </a:blipFill>
        </p:spPr>
      </p:sp>
      <p:sp>
        <p:nvSpPr>
          <p:cNvPr name="TextBox 4" id="4"/>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8377" y="2118776"/>
            <a:ext cx="17711246" cy="6489106"/>
          </a:xfrm>
          <a:custGeom>
            <a:avLst/>
            <a:gdLst/>
            <a:ahLst/>
            <a:cxnLst/>
            <a:rect r="r" b="b" t="t" l="l"/>
            <a:pathLst>
              <a:path h="6489106" w="17711246">
                <a:moveTo>
                  <a:pt x="0" y="0"/>
                </a:moveTo>
                <a:lnTo>
                  <a:pt x="17711246" y="0"/>
                </a:lnTo>
                <a:lnTo>
                  <a:pt x="17711246" y="6489106"/>
                </a:lnTo>
                <a:lnTo>
                  <a:pt x="0" y="6489106"/>
                </a:lnTo>
                <a:lnTo>
                  <a:pt x="0" y="0"/>
                </a:lnTo>
                <a:close/>
              </a:path>
            </a:pathLst>
          </a:custGeom>
          <a:blipFill>
            <a:blip r:embed="rId4"/>
            <a:stretch>
              <a:fillRect l="-492" t="-3306" r="-1501" b="-390"/>
            </a:stretch>
          </a:blipFill>
        </p:spPr>
      </p:sp>
      <p:sp>
        <p:nvSpPr>
          <p:cNvPr name="TextBox 4" id="4"/>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grpSp>
        <p:nvGrpSpPr>
          <p:cNvPr name="Group 5" id="5"/>
          <p:cNvGrpSpPr/>
          <p:nvPr/>
        </p:nvGrpSpPr>
        <p:grpSpPr>
          <a:xfrm rot="0">
            <a:off x="1479884" y="3224463"/>
            <a:ext cx="3251534" cy="4635176"/>
            <a:chOff x="0" y="0"/>
            <a:chExt cx="856383" cy="1220792"/>
          </a:xfrm>
        </p:grpSpPr>
        <p:sp>
          <p:nvSpPr>
            <p:cNvPr name="Freeform 6" id="6"/>
            <p:cNvSpPr/>
            <p:nvPr/>
          </p:nvSpPr>
          <p:spPr>
            <a:xfrm flipH="false" flipV="false" rot="0">
              <a:off x="0" y="0"/>
              <a:ext cx="856383" cy="1220792"/>
            </a:xfrm>
            <a:custGeom>
              <a:avLst/>
              <a:gdLst/>
              <a:ahLst/>
              <a:cxnLst/>
              <a:rect r="r" b="b" t="t" l="l"/>
              <a:pathLst>
                <a:path h="1220792" w="856383">
                  <a:moveTo>
                    <a:pt x="856383" y="0"/>
                  </a:moveTo>
                  <a:lnTo>
                    <a:pt x="856383" y="1220792"/>
                  </a:lnTo>
                  <a:lnTo>
                    <a:pt x="0" y="1220792"/>
                  </a:lnTo>
                  <a:lnTo>
                    <a:pt x="0" y="0"/>
                  </a:lnTo>
                  <a:close/>
                </a:path>
              </a:pathLst>
            </a:custGeom>
            <a:solidFill>
              <a:srgbClr val="000000">
                <a:alpha val="0"/>
              </a:srgbClr>
            </a:solidFill>
            <a:ln w="85725" cap="sq">
              <a:solidFill>
                <a:srgbClr val="00BF63"/>
              </a:solidFill>
              <a:prstDash val="solid"/>
              <a:miter/>
            </a:ln>
          </p:spPr>
        </p:sp>
        <p:sp>
          <p:nvSpPr>
            <p:cNvPr name="TextBox 7" id="7"/>
            <p:cNvSpPr txBox="true"/>
            <p:nvPr/>
          </p:nvSpPr>
          <p:spPr>
            <a:xfrm>
              <a:off x="0" y="-47625"/>
              <a:ext cx="856383" cy="1268417"/>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1565450" y="3224463"/>
            <a:ext cx="1356561" cy="4635176"/>
            <a:chOff x="0" y="0"/>
            <a:chExt cx="357289" cy="1220792"/>
          </a:xfrm>
        </p:grpSpPr>
        <p:sp>
          <p:nvSpPr>
            <p:cNvPr name="Freeform 9" id="9"/>
            <p:cNvSpPr/>
            <p:nvPr/>
          </p:nvSpPr>
          <p:spPr>
            <a:xfrm flipH="false" flipV="false" rot="0">
              <a:off x="0" y="0"/>
              <a:ext cx="357289" cy="1220792"/>
            </a:xfrm>
            <a:custGeom>
              <a:avLst/>
              <a:gdLst/>
              <a:ahLst/>
              <a:cxnLst/>
              <a:rect r="r" b="b" t="t" l="l"/>
              <a:pathLst>
                <a:path h="1220792" w="357289">
                  <a:moveTo>
                    <a:pt x="357289" y="0"/>
                  </a:moveTo>
                  <a:lnTo>
                    <a:pt x="357289" y="1220792"/>
                  </a:lnTo>
                  <a:lnTo>
                    <a:pt x="0" y="1220792"/>
                  </a:lnTo>
                  <a:lnTo>
                    <a:pt x="0" y="0"/>
                  </a:lnTo>
                  <a:close/>
                </a:path>
              </a:pathLst>
            </a:custGeom>
            <a:solidFill>
              <a:srgbClr val="000000">
                <a:alpha val="0"/>
              </a:srgbClr>
            </a:solidFill>
            <a:ln w="85725" cap="sq">
              <a:solidFill>
                <a:srgbClr val="00BF63"/>
              </a:solidFill>
              <a:prstDash val="solid"/>
              <a:miter/>
            </a:ln>
          </p:spPr>
        </p:sp>
        <p:sp>
          <p:nvSpPr>
            <p:cNvPr name="TextBox 10" id="10"/>
            <p:cNvSpPr txBox="true"/>
            <p:nvPr/>
          </p:nvSpPr>
          <p:spPr>
            <a:xfrm>
              <a:off x="0" y="-47625"/>
              <a:ext cx="357289" cy="1268417"/>
            </a:xfrm>
            <a:prstGeom prst="rect">
              <a:avLst/>
            </a:prstGeom>
          </p:spPr>
          <p:txBody>
            <a:bodyPr anchor="ctr" rtlCol="false" tIns="50800" lIns="50800" bIns="50800" rIns="50800"/>
            <a:lstStyle/>
            <a:p>
              <a:pPr algn="ctr">
                <a:lnSpc>
                  <a:spcPts val="3500"/>
                </a:lnSpc>
              </a:pPr>
            </a:p>
          </p:txBody>
        </p:sp>
      </p:grpSp>
      <p:grpSp>
        <p:nvGrpSpPr>
          <p:cNvPr name="Group 11" id="11"/>
          <p:cNvGrpSpPr/>
          <p:nvPr/>
        </p:nvGrpSpPr>
        <p:grpSpPr>
          <a:xfrm rot="0">
            <a:off x="16184573" y="3224463"/>
            <a:ext cx="1356561" cy="4635176"/>
            <a:chOff x="0" y="0"/>
            <a:chExt cx="357289" cy="1220792"/>
          </a:xfrm>
        </p:grpSpPr>
        <p:sp>
          <p:nvSpPr>
            <p:cNvPr name="Freeform 12" id="12"/>
            <p:cNvSpPr/>
            <p:nvPr/>
          </p:nvSpPr>
          <p:spPr>
            <a:xfrm flipH="false" flipV="false" rot="0">
              <a:off x="0" y="0"/>
              <a:ext cx="357289" cy="1220792"/>
            </a:xfrm>
            <a:custGeom>
              <a:avLst/>
              <a:gdLst/>
              <a:ahLst/>
              <a:cxnLst/>
              <a:rect r="r" b="b" t="t" l="l"/>
              <a:pathLst>
                <a:path h="1220792" w="357289">
                  <a:moveTo>
                    <a:pt x="357289" y="0"/>
                  </a:moveTo>
                  <a:lnTo>
                    <a:pt x="357289" y="1220792"/>
                  </a:lnTo>
                  <a:lnTo>
                    <a:pt x="0" y="1220792"/>
                  </a:lnTo>
                  <a:lnTo>
                    <a:pt x="0" y="0"/>
                  </a:lnTo>
                  <a:close/>
                </a:path>
              </a:pathLst>
            </a:custGeom>
            <a:solidFill>
              <a:srgbClr val="000000">
                <a:alpha val="0"/>
              </a:srgbClr>
            </a:solidFill>
            <a:ln w="85725" cap="sq">
              <a:solidFill>
                <a:srgbClr val="00BF63"/>
              </a:solidFill>
              <a:prstDash val="solid"/>
              <a:miter/>
            </a:ln>
          </p:spPr>
        </p:sp>
        <p:sp>
          <p:nvSpPr>
            <p:cNvPr name="TextBox 13" id="13"/>
            <p:cNvSpPr txBox="true"/>
            <p:nvPr/>
          </p:nvSpPr>
          <p:spPr>
            <a:xfrm>
              <a:off x="0" y="-47625"/>
              <a:ext cx="357289" cy="1268417"/>
            </a:xfrm>
            <a:prstGeom prst="rect">
              <a:avLst/>
            </a:prstGeom>
          </p:spPr>
          <p:txBody>
            <a:bodyPr anchor="ctr" rtlCol="false" tIns="50800" lIns="50800" bIns="50800" rIns="50800"/>
            <a:lstStyle/>
            <a:p>
              <a:pPr algn="ctr">
                <a:lnSpc>
                  <a:spcPts val="3500"/>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9963" y="2711116"/>
            <a:ext cx="17225981" cy="6201353"/>
          </a:xfrm>
          <a:custGeom>
            <a:avLst/>
            <a:gdLst/>
            <a:ahLst/>
            <a:cxnLst/>
            <a:rect r="r" b="b" t="t" l="l"/>
            <a:pathLst>
              <a:path h="6201353" w="17225981">
                <a:moveTo>
                  <a:pt x="0" y="0"/>
                </a:moveTo>
                <a:lnTo>
                  <a:pt x="17225980" y="0"/>
                </a:lnTo>
                <a:lnTo>
                  <a:pt x="17225980" y="6201353"/>
                </a:lnTo>
                <a:lnTo>
                  <a:pt x="0" y="6201353"/>
                </a:lnTo>
                <a:lnTo>
                  <a:pt x="0" y="0"/>
                </a:lnTo>
                <a:close/>
              </a:path>
            </a:pathLst>
          </a:custGeom>
          <a:blipFill>
            <a:blip r:embed="rId4"/>
            <a:stretch>
              <a:fillRect l="0" t="0" r="0" b="0"/>
            </a:stretch>
          </a:blipFill>
        </p:spPr>
      </p:sp>
      <p:sp>
        <p:nvSpPr>
          <p:cNvPr name="TextBox 4" id="4"/>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382783" y="2252438"/>
            <a:ext cx="17522434" cy="6150238"/>
          </a:xfrm>
          <a:custGeom>
            <a:avLst/>
            <a:gdLst/>
            <a:ahLst/>
            <a:cxnLst/>
            <a:rect r="r" b="b" t="t" l="l"/>
            <a:pathLst>
              <a:path h="6150238" w="17522434">
                <a:moveTo>
                  <a:pt x="0" y="0"/>
                </a:moveTo>
                <a:lnTo>
                  <a:pt x="17522434" y="0"/>
                </a:lnTo>
                <a:lnTo>
                  <a:pt x="17522434" y="6150237"/>
                </a:lnTo>
                <a:lnTo>
                  <a:pt x="0" y="6150237"/>
                </a:lnTo>
                <a:lnTo>
                  <a:pt x="0" y="0"/>
                </a:lnTo>
                <a:close/>
              </a:path>
            </a:pathLst>
          </a:custGeom>
          <a:blipFill>
            <a:blip r:embed="rId2"/>
            <a:stretch>
              <a:fillRect l="0" t="0" r="-3997" b="0"/>
            </a:stretch>
          </a:blipFill>
        </p:spPr>
      </p:sp>
      <p:sp>
        <p:nvSpPr>
          <p:cNvPr name="Freeform 3" id="3"/>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BF66"/>
        </a:solidFill>
      </p:bgPr>
    </p:bg>
    <p:spTree>
      <p:nvGrpSpPr>
        <p:cNvPr id="1" name=""/>
        <p:cNvGrpSpPr/>
        <p:nvPr/>
      </p:nvGrpSpPr>
      <p:grpSpPr>
        <a:xfrm>
          <a:off x="0" y="0"/>
          <a:ext cx="0" cy="0"/>
          <a:chOff x="0" y="0"/>
          <a:chExt cx="0" cy="0"/>
        </a:xfrm>
      </p:grpSpPr>
      <p:sp>
        <p:nvSpPr>
          <p:cNvPr name="Freeform 2" id="2"/>
          <p:cNvSpPr/>
          <p:nvPr/>
        </p:nvSpPr>
        <p:spPr>
          <a:xfrm flipH="false" flipV="false" rot="0">
            <a:off x="7401860" y="361015"/>
            <a:ext cx="3943996" cy="1252219"/>
          </a:xfrm>
          <a:custGeom>
            <a:avLst/>
            <a:gdLst/>
            <a:ahLst/>
            <a:cxnLst/>
            <a:rect r="r" b="b" t="t" l="l"/>
            <a:pathLst>
              <a:path h="1252219" w="3943996">
                <a:moveTo>
                  <a:pt x="0" y="0"/>
                </a:moveTo>
                <a:lnTo>
                  <a:pt x="3943996" y="0"/>
                </a:lnTo>
                <a:lnTo>
                  <a:pt x="3943996" y="1252219"/>
                </a:lnTo>
                <a:lnTo>
                  <a:pt x="0" y="12522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220449">
            <a:off x="7207527" y="365262"/>
            <a:ext cx="4324116" cy="1193800"/>
          </a:xfrm>
          <a:prstGeom prst="rect">
            <a:avLst/>
          </a:prstGeom>
        </p:spPr>
        <p:txBody>
          <a:bodyPr anchor="t" rtlCol="false" tIns="0" lIns="0" bIns="0" rIns="0">
            <a:spAutoFit/>
          </a:bodyPr>
          <a:lstStyle/>
          <a:p>
            <a:pPr algn="ctr">
              <a:lnSpc>
                <a:spcPts val="9800"/>
              </a:lnSpc>
              <a:spcBef>
                <a:spcPct val="0"/>
              </a:spcBef>
            </a:pPr>
            <a:r>
              <a:rPr lang="en-US" b="true" sz="7000">
                <a:solidFill>
                  <a:srgbClr val="493423"/>
                </a:solidFill>
                <a:latin typeface="WC Mano Negra Bold"/>
                <a:ea typeface="WC Mano Negra Bold"/>
                <a:cs typeface="WC Mano Negra Bold"/>
                <a:sym typeface="WC Mano Negra Bold"/>
              </a:rPr>
              <a:t>The Results</a:t>
            </a:r>
          </a:p>
        </p:txBody>
      </p:sp>
      <p:sp>
        <p:nvSpPr>
          <p:cNvPr name="Freeform 4" id="4"/>
          <p:cNvSpPr/>
          <p:nvPr/>
        </p:nvSpPr>
        <p:spPr>
          <a:xfrm flipH="false" flipV="false" rot="0">
            <a:off x="579020" y="2878555"/>
            <a:ext cx="17520987" cy="5227721"/>
          </a:xfrm>
          <a:custGeom>
            <a:avLst/>
            <a:gdLst/>
            <a:ahLst/>
            <a:cxnLst/>
            <a:rect r="r" b="b" t="t" l="l"/>
            <a:pathLst>
              <a:path h="5227721" w="17520987">
                <a:moveTo>
                  <a:pt x="0" y="0"/>
                </a:moveTo>
                <a:lnTo>
                  <a:pt x="17520987" y="0"/>
                </a:lnTo>
                <a:lnTo>
                  <a:pt x="17520987" y="5227721"/>
                </a:lnTo>
                <a:lnTo>
                  <a:pt x="0" y="5227721"/>
                </a:lnTo>
                <a:lnTo>
                  <a:pt x="0" y="0"/>
                </a:lnTo>
                <a:close/>
              </a:path>
            </a:pathLst>
          </a:custGeom>
          <a:blipFill>
            <a:blip r:embed="rId4"/>
            <a:stretch>
              <a:fillRect l="-1164" t="0" r="-462" b="-3033"/>
            </a:stretch>
          </a:blipFill>
        </p:spPr>
      </p:sp>
    </p:spTree>
  </p:cSld>
  <p:clrMapOvr>
    <a:masterClrMapping/>
  </p:clrMapOvr>
</p:sld>
</file>

<file path=ppt/slides/slide24.xml><?xml version="1.0" encoding="utf-8"?>
<p:sld xmlns:p="http://schemas.openxmlformats.org/presentationml/2006/main" xmlns:a="http://schemas.openxmlformats.org/drawingml/2006/main">
  <p:cSld>
    <p:bg>
      <p:bgPr>
        <a:solidFill>
          <a:srgbClr val="ABB194"/>
        </a:solidFill>
      </p:bgPr>
    </p:bg>
    <p:spTree>
      <p:nvGrpSpPr>
        <p:cNvPr id="1" name=""/>
        <p:cNvGrpSpPr/>
        <p:nvPr/>
      </p:nvGrpSpPr>
      <p:grpSpPr>
        <a:xfrm>
          <a:off x="0" y="0"/>
          <a:ext cx="0" cy="0"/>
          <a:chOff x="0" y="0"/>
          <a:chExt cx="0" cy="0"/>
        </a:xfrm>
      </p:grpSpPr>
      <p:sp>
        <p:nvSpPr>
          <p:cNvPr name="TextBox 2" id="2"/>
          <p:cNvSpPr txBox="true"/>
          <p:nvPr/>
        </p:nvSpPr>
        <p:spPr>
          <a:xfrm rot="0">
            <a:off x="1892683" y="4376149"/>
            <a:ext cx="14502634" cy="2944403"/>
          </a:xfrm>
          <a:prstGeom prst="rect">
            <a:avLst/>
          </a:prstGeom>
        </p:spPr>
        <p:txBody>
          <a:bodyPr anchor="t" rtlCol="false" tIns="0" lIns="0" bIns="0" rIns="0">
            <a:spAutoFit/>
          </a:bodyPr>
          <a:lstStyle/>
          <a:p>
            <a:pPr algn="ctr">
              <a:lnSpc>
                <a:spcPts val="19431"/>
              </a:lnSpc>
            </a:pPr>
            <a:r>
              <a:rPr lang="en-US" sz="28575" spc="-571">
                <a:solidFill>
                  <a:srgbClr val="004755"/>
                </a:solidFill>
                <a:latin typeface="Knockout Featherweight Ultra-Bold"/>
                <a:ea typeface="Knockout Featherweight Ultra-Bold"/>
                <a:cs typeface="Knockout Featherweight Ultra-Bold"/>
                <a:sym typeface="Knockout Featherweight Ultra-Bold"/>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DAG28_cpgMY</dc:identifier>
  <dcterms:modified xsi:type="dcterms:W3CDTF">2011-08-01T06:04:30Z</dcterms:modified>
  <cp:revision>1</cp:revision>
  <dc:title>Examining</dc:title>
</cp:coreProperties>
</file>